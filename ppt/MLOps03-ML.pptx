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9"/>
  </p:notesMasterIdLst>
  <p:handoutMasterIdLst>
    <p:handoutMasterId r:id="rId40"/>
  </p:handoutMasterIdLst>
  <p:sldIdLst>
    <p:sldId id="264" r:id="rId2"/>
    <p:sldId id="323" r:id="rId3"/>
    <p:sldId id="320" r:id="rId4"/>
    <p:sldId id="267" r:id="rId5"/>
    <p:sldId id="268" r:id="rId6"/>
    <p:sldId id="269" r:id="rId7"/>
    <p:sldId id="270" r:id="rId8"/>
    <p:sldId id="271" r:id="rId9"/>
    <p:sldId id="272" r:id="rId10"/>
    <p:sldId id="287" r:id="rId11"/>
    <p:sldId id="273" r:id="rId12"/>
    <p:sldId id="274" r:id="rId13"/>
    <p:sldId id="306" r:id="rId14"/>
    <p:sldId id="288" r:id="rId15"/>
    <p:sldId id="289" r:id="rId16"/>
    <p:sldId id="290" r:id="rId17"/>
    <p:sldId id="275" r:id="rId18"/>
    <p:sldId id="277" r:id="rId19"/>
    <p:sldId id="319" r:id="rId20"/>
    <p:sldId id="278" r:id="rId21"/>
    <p:sldId id="279" r:id="rId22"/>
    <p:sldId id="281" r:id="rId23"/>
    <p:sldId id="283" r:id="rId24"/>
    <p:sldId id="284" r:id="rId25"/>
    <p:sldId id="285" r:id="rId26"/>
    <p:sldId id="286" r:id="rId27"/>
    <p:sldId id="321" r:id="rId28"/>
    <p:sldId id="297" r:id="rId29"/>
    <p:sldId id="299" r:id="rId30"/>
    <p:sldId id="318" r:id="rId31"/>
    <p:sldId id="266" r:id="rId32"/>
    <p:sldId id="324" r:id="rId33"/>
    <p:sldId id="265" r:id="rId34"/>
    <p:sldId id="325" r:id="rId35"/>
    <p:sldId id="326" r:id="rId36"/>
    <p:sldId id="327" r:id="rId37"/>
    <p:sldId id="328" r:id="rId3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609015" y="1869334"/>
            <a:ext cx="6400800" cy="1752600"/>
          </a:xfrm>
        </p:spPr>
        <p:txBody>
          <a:bodyPr/>
          <a:lstStyle/>
          <a:p>
            <a:pPr eaLnBrk="1" hangingPunct="1"/>
            <a:r>
              <a:rPr lang="fr-FR" altLang="fr-FR"/>
              <a:t>Chapitre 3</a:t>
            </a:r>
            <a:endParaRPr lang="fr-FR" altLang="fr-FR" dirty="0"/>
          </a:p>
          <a:p>
            <a:pPr eaLnBrk="1" hangingPunct="1"/>
            <a:r>
              <a:rPr lang="fr-FR" altLang="fr-FR" dirty="0"/>
              <a:t>Machine Learning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973288" y="764410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MLOps</a:t>
            </a:r>
            <a:endParaRPr lang="fr-FR" sz="3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B0E3DE-7929-40C3-8F88-CAF151B2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9" y="3429000"/>
            <a:ext cx="9142310" cy="2241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 d’une manière proche de la réalité mais simplifiée</a:t>
            </a:r>
          </a:p>
          <a:p>
            <a:r>
              <a:rPr lang="fr-FR" dirty="0"/>
              <a:t>Différent types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régression n’est pas tous les temps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cette exemple il est impossible de faire filer une droite</a:t>
            </a:r>
          </a:p>
        </p:txBody>
      </p:sp>
      <p:pic>
        <p:nvPicPr>
          <p:cNvPr id="4098" name="Picture 2" descr="Comme on peut le voir sur ce genre de données, c'est difficile de faire fitter une droit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60773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00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Imaginez que vous voulez créer un algorithme de détection de fraudes bancaires</a:t>
            </a:r>
          </a:p>
          <a:p>
            <a:pPr lvl="1"/>
            <a:r>
              <a:rPr lang="fr-FR" sz="2000" dirty="0"/>
              <a:t>Vous voulez mesurer à quel point votre programme est performant</a:t>
            </a:r>
          </a:p>
          <a:p>
            <a:r>
              <a:rPr lang="fr-FR" sz="2400" dirty="0"/>
              <a:t>Une manière de faire serait de mesurer la proportion totale de transaction détectées comme fraude</a:t>
            </a:r>
          </a:p>
          <a:p>
            <a:pPr lvl="1"/>
            <a:r>
              <a:rPr lang="fr-FR" sz="2000" dirty="0"/>
              <a:t>Cependant, on compte ici les transactions qui ne sont pas des fraudes et qui ont quand même été notées comme en étant (appelé "faux positifs")</a:t>
            </a:r>
          </a:p>
          <a:p>
            <a:pPr lvl="1"/>
            <a:r>
              <a:rPr lang="fr-FR" sz="2000" dirty="0"/>
              <a:t>Donc, avec ce genre de métriques, on est pas exigeant sur ce type d'erreur que produit notre algorithme</a:t>
            </a:r>
          </a:p>
          <a:p>
            <a:r>
              <a:rPr lang="fr-FR" sz="2400" dirty="0"/>
              <a:t>Il faut peut être, utiliser une autre métrique plus pertinente. Par exemple, la précision qui est la proportion de "vraies fraudes" détectées par rapport au total de transactions </a:t>
            </a:r>
            <a:r>
              <a:rPr lang="fr-FR" sz="2400" dirty="0" err="1"/>
              <a:t>flagées</a:t>
            </a:r>
            <a:r>
              <a:rPr lang="fr-FR" sz="2400" dirty="0"/>
              <a:t> comme fraudes</a:t>
            </a:r>
          </a:p>
        </p:txBody>
      </p:sp>
    </p:spTree>
    <p:extLst>
      <p:ext uri="{BB962C8B-B14F-4D97-AF65-F5344CB8AC3E}">
        <p14:creationId xmlns:p14="http://schemas.microsoft.com/office/powerpoint/2010/main" val="1447999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la détection de maladie comme la méningite le nombre de faux positif n’est pas très important</a:t>
            </a:r>
          </a:p>
          <a:p>
            <a:r>
              <a:rPr lang="fr-FR" dirty="0"/>
              <a:t>Alors que le nombre de faux négatif est potentiellement mortel</a:t>
            </a:r>
          </a:p>
        </p:txBody>
      </p:sp>
    </p:spTree>
    <p:extLst>
      <p:ext uri="{BB962C8B-B14F-4D97-AF65-F5344CB8AC3E}">
        <p14:creationId xmlns:p14="http://schemas.microsoft.com/office/powerpoint/2010/main" val="98967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non modélisables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problèmes ne sont pas modélisables par une régression</a:t>
            </a:r>
          </a:p>
          <a:p>
            <a:pPr lvl="1"/>
            <a:r>
              <a:rPr lang="fr-FR" dirty="0"/>
              <a:t>Non rationnel : Pi, nombres premiers</a:t>
            </a:r>
          </a:p>
          <a:p>
            <a:pPr lvl="1"/>
            <a:r>
              <a:rPr lang="fr-FR" dirty="0"/>
              <a:t>Fortement dispersé :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Ici </a:t>
            </a:r>
            <a:r>
              <a:rPr lang="fr-FR" dirty="0" err="1"/>
              <a:t>random.rand</a:t>
            </a:r>
            <a:r>
              <a:rPr lang="fr-FR" dirty="0"/>
              <a:t>(30) et les 40000 premiers nombres premiers sur une grille 200 x 200</a:t>
            </a:r>
          </a:p>
          <a:p>
            <a:pPr lvl="1"/>
            <a:endParaRPr lang="fr-FR" dirty="0"/>
          </a:p>
        </p:txBody>
      </p:sp>
      <p:pic>
        <p:nvPicPr>
          <p:cNvPr id="6146" name="Picture 2" descr="Échantillon d'une variable aléatoire gaussien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669" y="4060792"/>
            <a:ext cx="3571875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associé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146" y="4090085"/>
            <a:ext cx="2148166" cy="212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611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processeurs d’aujourd’hui en en 64 bits (x64)</a:t>
            </a:r>
          </a:p>
          <a:p>
            <a:pPr lvl="1"/>
            <a:r>
              <a:rPr lang="fr-FR" dirty="0"/>
              <a:t>Les GPU sont sur 128 bits</a:t>
            </a:r>
          </a:p>
          <a:p>
            <a:pPr lvl="1"/>
            <a:r>
              <a:rPr lang="fr-FR" dirty="0"/>
              <a:t>Les anciens processeurs sur 32 bits</a:t>
            </a:r>
          </a:p>
          <a:p>
            <a:pPr lvl="1"/>
            <a:r>
              <a:rPr lang="fr-FR" dirty="0"/>
              <a:t>Python existe en version 32 et 64 bits</a:t>
            </a:r>
          </a:p>
          <a:p>
            <a:r>
              <a:rPr lang="fr-FR" dirty="0"/>
              <a:t>Un processeur 32 bits ne peut adresser que 2^32 bits soit 4Gbit</a:t>
            </a:r>
          </a:p>
          <a:p>
            <a:pPr lvl="1"/>
            <a:r>
              <a:rPr lang="fr-FR" dirty="0"/>
              <a:t>Une adresse mémoire est souvent sur 1 octet ce qui donne 4Go de mémoire maximum, sachant que près de la moitié est pris par l’OS</a:t>
            </a:r>
          </a:p>
          <a:p>
            <a:r>
              <a:rPr lang="fr-FR" dirty="0"/>
              <a:t>Un processeur 64 bits sait adressé 8000 </a:t>
            </a:r>
            <a:r>
              <a:rPr lang="fr-FR" dirty="0" err="1"/>
              <a:t>Pbit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995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En Python un flottant fait 32 bits</a:t>
            </a:r>
          </a:p>
          <a:p>
            <a:pPr lvl="1"/>
            <a:r>
              <a:rPr lang="fr-FR" sz="2000" dirty="0"/>
              <a:t>Sachant que la moitié des ressources est pris par l’OS et qu’une liste de valeur est amené à être dupliqué au moins une fois</a:t>
            </a:r>
          </a:p>
          <a:p>
            <a:pPr lvl="1"/>
            <a:r>
              <a:rPr lang="fr-FR" sz="2000" dirty="0"/>
              <a:t>Python 32 bits sait géré 10**8 flottants</a:t>
            </a:r>
          </a:p>
          <a:p>
            <a:pPr lvl="1"/>
            <a:r>
              <a:rPr lang="fr-FR" sz="2000" dirty="0"/>
              <a:t>Python 64 bits sait géré 10**18 flottants</a:t>
            </a:r>
          </a:p>
          <a:p>
            <a:r>
              <a:rPr lang="fr-FR" sz="2400" dirty="0"/>
              <a:t>Une image 28 * 28 * 16 niveaux de gris fait 3Ko</a:t>
            </a:r>
          </a:p>
          <a:p>
            <a:pPr lvl="1"/>
            <a:r>
              <a:rPr lang="fr-FR" sz="2000" dirty="0"/>
              <a:t>Python 32 bits sait géré 333 000 images</a:t>
            </a:r>
          </a:p>
          <a:p>
            <a:pPr lvl="1"/>
            <a:r>
              <a:rPr lang="fr-FR" sz="2000" dirty="0"/>
              <a:t>Python 64 bits sait géré 10**15 images</a:t>
            </a:r>
          </a:p>
          <a:p>
            <a:r>
              <a:rPr lang="fr-FR" sz="2400" dirty="0"/>
              <a:t>Une image 1024 * 768 en couleur RAW fait 3Mo</a:t>
            </a:r>
          </a:p>
          <a:p>
            <a:pPr lvl="1"/>
            <a:r>
              <a:rPr lang="fr-FR" sz="2000" dirty="0"/>
              <a:t>Python 32 bits sait géré 333 images</a:t>
            </a:r>
          </a:p>
          <a:p>
            <a:pPr lvl="1"/>
            <a:r>
              <a:rPr lang="fr-FR" sz="2000" dirty="0"/>
              <a:t>Python 64 bits sait géré 10**12 images</a:t>
            </a:r>
          </a:p>
          <a:p>
            <a:r>
              <a:rPr lang="fr-FR" sz="2400" dirty="0"/>
              <a:t>Une image 4K RAW fait 16Mo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16193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Pur rappel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80" y="1412875"/>
            <a:ext cx="6300391" cy="50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9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1187450" y="12700"/>
            <a:ext cx="7829550" cy="1143000"/>
          </a:xfrm>
        </p:spPr>
        <p:txBody>
          <a:bodyPr/>
          <a:lstStyle/>
          <a:p>
            <a:r>
              <a:rPr lang="fr-FR" altLang="fr-FR" dirty="0"/>
              <a:t>Python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179388" y="1412776"/>
            <a:ext cx="8766175" cy="5040313"/>
          </a:xfrm>
        </p:spPr>
        <p:txBody>
          <a:bodyPr/>
          <a:lstStyle/>
          <a:p>
            <a:r>
              <a:rPr lang="fr-FR" altLang="fr-FR" dirty="0"/>
              <a:t>Python est un langage de programmation objet et multiplateformes</a:t>
            </a:r>
          </a:p>
          <a:p>
            <a:r>
              <a:rPr lang="fr-FR" altLang="fr-FR" dirty="0"/>
              <a:t>Python est libre</a:t>
            </a:r>
          </a:p>
          <a:p>
            <a:r>
              <a:rPr lang="fr-FR" altLang="fr-FR" dirty="0"/>
              <a:t>Créé par Guido van </a:t>
            </a:r>
            <a:r>
              <a:rPr lang="fr-FR" altLang="fr-FR" dirty="0" err="1"/>
              <a:t>Rossum</a:t>
            </a:r>
            <a:endParaRPr lang="fr-FR" altLang="fr-FR" dirty="0"/>
          </a:p>
          <a:p>
            <a:pPr lvl="1"/>
            <a:r>
              <a:rPr lang="fr-FR" altLang="fr-FR" dirty="0"/>
              <a:t>Hommage aux Monty Python</a:t>
            </a:r>
          </a:p>
          <a:p>
            <a:r>
              <a:rPr lang="fr-FR" altLang="fr-FR" dirty="0"/>
              <a:t>Python 3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3016" y="5135005"/>
            <a:ext cx="6715125" cy="1285875"/>
          </a:xfrm>
          <a:prstGeom prst="rect">
            <a:avLst/>
          </a:prstGeom>
        </p:spPr>
      </p:pic>
      <p:pic>
        <p:nvPicPr>
          <p:cNvPr id="7" name="Picture 2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904" y="2141204"/>
            <a:ext cx="3813096" cy="274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un module </a:t>
            </a:r>
            <a:r>
              <a:rPr lang="en-US" dirty="0" err="1"/>
              <a:t>scientifique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 qui </a:t>
            </a:r>
            <a:r>
              <a:rPr lang="en-US" dirty="0" err="1"/>
              <a:t>peut</a:t>
            </a:r>
            <a:r>
              <a:rPr lang="en-US" dirty="0"/>
              <a:t> :</a:t>
            </a:r>
          </a:p>
          <a:p>
            <a:pPr lvl="1"/>
            <a:r>
              <a:rPr lang="en-US" dirty="0" err="1"/>
              <a:t>Algèbre</a:t>
            </a:r>
            <a:r>
              <a:rPr lang="en-US" dirty="0"/>
              <a:t> </a:t>
            </a:r>
            <a:r>
              <a:rPr lang="en-US" dirty="0" err="1"/>
              <a:t>linéaire</a:t>
            </a:r>
            <a:endParaRPr lang="en-US" dirty="0"/>
          </a:p>
          <a:p>
            <a:pPr lvl="1"/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1"/>
            <a:r>
              <a:rPr lang="en-US" dirty="0"/>
              <a:t>Travail sur des </a:t>
            </a:r>
            <a:r>
              <a:rPr lang="en-US" dirty="0" err="1"/>
              <a:t>np.array</a:t>
            </a:r>
            <a:endParaRPr lang="en-US" dirty="0"/>
          </a:p>
          <a:p>
            <a:pPr lvl="1"/>
            <a:r>
              <a:rPr lang="en-US" dirty="0"/>
              <a:t>PIP install </a:t>
            </a:r>
            <a:r>
              <a:rPr lang="en-US" dirty="0" err="1"/>
              <a:t>numpy</a:t>
            </a:r>
            <a:endParaRPr lang="en-US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84380"/>
            <a:ext cx="1790700" cy="6000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884" y="3573016"/>
            <a:ext cx="4886116" cy="298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38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Pandas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Data </a:t>
            </a:r>
            <a:r>
              <a:rPr lang="fr-FR" dirty="0" err="1"/>
              <a:t>Analysis</a:t>
            </a:r>
            <a:r>
              <a:rPr lang="fr-FR" dirty="0"/>
              <a:t> Library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pandas</a:t>
            </a:r>
          </a:p>
          <a:p>
            <a:pPr lvl="1"/>
            <a:r>
              <a:rPr lang="fr-FR" dirty="0"/>
              <a:t>import pandas as </a:t>
            </a:r>
            <a:r>
              <a:rPr lang="fr-FR" dirty="0" err="1"/>
              <a:t>pd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Pandas possède une librairie très puissante pour importer des données depuis n’importe quelle source</a:t>
            </a:r>
          </a:p>
          <a:p>
            <a:pPr lvl="1"/>
            <a:r>
              <a:rPr lang="fr-FR" dirty="0"/>
              <a:t>Puis les convertis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CSV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('house.csv')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['surface'],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house_data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['loyer'],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pPr marL="457200" lvl="1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6451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Package graphique 2D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matplotlib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matplotlib.pyplot</a:t>
            </a:r>
            <a:r>
              <a:rPr lang="fr-FR" dirty="0"/>
              <a:t> as </a:t>
            </a:r>
            <a:r>
              <a:rPr lang="fr-FR" dirty="0" err="1"/>
              <a:t>plt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797152"/>
            <a:ext cx="63722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68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412776"/>
            <a:ext cx="8766051" cy="5040560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060848"/>
            <a:ext cx="4912929" cy="38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87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Gestionnaire de package Python</a:t>
            </a:r>
          </a:p>
          <a:p>
            <a:pPr lvl="1"/>
            <a:r>
              <a:rPr lang="fr-FR" dirty="0"/>
              <a:t>PIP Install Package</a:t>
            </a:r>
          </a:p>
          <a:p>
            <a:r>
              <a:rPr lang="fr-FR" dirty="0"/>
              <a:t>Dépôt de package</a:t>
            </a:r>
          </a:p>
          <a:p>
            <a:pPr lvl="1"/>
            <a:r>
              <a:rPr lang="fr-FR" dirty="0"/>
              <a:t>Python Package Index </a:t>
            </a:r>
            <a:r>
              <a:rPr lang="fr-FR" dirty="0" err="1"/>
              <a:t>PyPI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uninstall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–r requirements.txt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freeze &gt; requirements.txt</a:t>
            </a:r>
          </a:p>
        </p:txBody>
      </p:sp>
      <p:pic>
        <p:nvPicPr>
          <p:cNvPr id="1026" name="Picture 2" descr="https://upload.wikimedia.org/wikipedia/commons/0/02/Pip_hel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501008"/>
            <a:ext cx="6663191" cy="335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04810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</TotalTime>
  <Words>1159</Words>
  <Application>Microsoft Office PowerPoint</Application>
  <PresentationFormat>Affichage à l'écran (4:3)</PresentationFormat>
  <Paragraphs>167</Paragraphs>
  <Slides>37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2" baseType="lpstr">
      <vt:lpstr>Arial</vt:lpstr>
      <vt:lpstr>Courier New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But</vt:lpstr>
      <vt:lpstr>Exemple</vt:lpstr>
      <vt:lpstr>Graphique</vt:lpstr>
      <vt:lpstr>Régression</vt:lpstr>
      <vt:lpstr>Régression linéaire</vt:lpstr>
      <vt:lpstr>Erreur</vt:lpstr>
      <vt:lpstr>Classification</vt:lpstr>
      <vt:lpstr>Trouver le bon modèle</vt:lpstr>
      <vt:lpstr>Quartet d’Ascombe</vt:lpstr>
      <vt:lpstr>La régression n’est pas tous les temps linéaire</vt:lpstr>
      <vt:lpstr>Les différents types de régression</vt:lpstr>
      <vt:lpstr>Les différents types de régression</vt:lpstr>
      <vt:lpstr>Les différents types de régression</vt:lpstr>
      <vt:lpstr>Machine Learning</vt:lpstr>
      <vt:lpstr>Apprentissage</vt:lpstr>
      <vt:lpstr>Machine Learning vs Programmation</vt:lpstr>
      <vt:lpstr>Exemple</vt:lpstr>
      <vt:lpstr>Workflow</vt:lpstr>
      <vt:lpstr>L'algorithme d'apprentissage</vt:lpstr>
      <vt:lpstr>Exemples</vt:lpstr>
      <vt:lpstr>Mesure de performance</vt:lpstr>
      <vt:lpstr>Exemple</vt:lpstr>
      <vt:lpstr>Autre exemple</vt:lpstr>
      <vt:lpstr>Problèmes non modélisables</vt:lpstr>
      <vt:lpstr>Considération sur les tailles</vt:lpstr>
      <vt:lpstr>Considération sur les tailles</vt:lpstr>
      <vt:lpstr>Pur rappel</vt:lpstr>
      <vt:lpstr>Python</vt:lpstr>
      <vt:lpstr>Présentation PowerPoint</vt:lpstr>
      <vt:lpstr>Pandas</vt:lpstr>
      <vt:lpstr>Import de données</vt:lpstr>
      <vt:lpstr>MatPlotLib</vt:lpstr>
      <vt:lpstr>Présentation PowerPoint</vt:lpstr>
      <vt:lpstr>PIP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245</cp:revision>
  <dcterms:created xsi:type="dcterms:W3CDTF">2000-04-10T19:33:12Z</dcterms:created>
  <dcterms:modified xsi:type="dcterms:W3CDTF">2025-09-22T12:04:37Z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