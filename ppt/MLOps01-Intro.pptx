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0"/>
  </p:notesMasterIdLst>
  <p:handoutMasterIdLst>
    <p:handoutMasterId r:id="rId51"/>
  </p:handoutMasterIdLst>
  <p:sldIdLst>
    <p:sldId id="264" r:id="rId2"/>
    <p:sldId id="346" r:id="rId3"/>
    <p:sldId id="334" r:id="rId4"/>
    <p:sldId id="279" r:id="rId5"/>
    <p:sldId id="280" r:id="rId6"/>
    <p:sldId id="281" r:id="rId7"/>
    <p:sldId id="282" r:id="rId8"/>
    <p:sldId id="283" r:id="rId9"/>
    <p:sldId id="284" r:id="rId10"/>
    <p:sldId id="285" r:id="rId11"/>
    <p:sldId id="308" r:id="rId12"/>
    <p:sldId id="309" r:id="rId13"/>
    <p:sldId id="286" r:id="rId14"/>
    <p:sldId id="288" r:id="rId15"/>
    <p:sldId id="347" r:id="rId16"/>
    <p:sldId id="289" r:id="rId17"/>
    <p:sldId id="290" r:id="rId18"/>
    <p:sldId id="293" r:id="rId19"/>
    <p:sldId id="348" r:id="rId20"/>
    <p:sldId id="349" r:id="rId21"/>
    <p:sldId id="350" r:id="rId22"/>
    <p:sldId id="291" r:id="rId23"/>
    <p:sldId id="292" r:id="rId24"/>
    <p:sldId id="345" r:id="rId25"/>
    <p:sldId id="294" r:id="rId26"/>
    <p:sldId id="295" r:id="rId27"/>
    <p:sldId id="296" r:id="rId28"/>
    <p:sldId id="297" r:id="rId29"/>
    <p:sldId id="300" r:id="rId30"/>
    <p:sldId id="336" r:id="rId31"/>
    <p:sldId id="314" r:id="rId32"/>
    <p:sldId id="304" r:id="rId33"/>
    <p:sldId id="305" r:id="rId34"/>
    <p:sldId id="306" r:id="rId35"/>
    <p:sldId id="307" r:id="rId36"/>
    <p:sldId id="332" r:id="rId37"/>
    <p:sldId id="272" r:id="rId38"/>
    <p:sldId id="325" r:id="rId39"/>
    <p:sldId id="343" r:id="rId40"/>
    <p:sldId id="333" r:id="rId41"/>
    <p:sldId id="322" r:id="rId42"/>
    <p:sldId id="340" r:id="rId43"/>
    <p:sldId id="341" r:id="rId44"/>
    <p:sldId id="351" r:id="rId45"/>
    <p:sldId id="352" r:id="rId46"/>
    <p:sldId id="353" r:id="rId47"/>
    <p:sldId id="354" r:id="rId48"/>
    <p:sldId id="310" r:id="rId49"/>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1366" max="1920" units="cm"/>
          <inkml:channel name="Y" type="integer" max="1080" units="cm"/>
          <inkml:channel name="T" type="integer" max="2.14748E9" units="dev"/>
        </inkml:traceFormat>
        <inkml:channelProperties>
          <inkml:channelProperty channel="X" name="resolution" value="95.52325" units="1/cm"/>
          <inkml:channelProperty channel="Y" name="resolution" value="55.95855" units="1/cm"/>
          <inkml:channelProperty channel="T" name="resolution" value="1" units="1/dev"/>
        </inkml:channelProperties>
      </inkml:inkSource>
      <inkml:timestamp xml:id="ts0" timeString="2025-09-22T09:01:25.819"/>
    </inkml:context>
    <inkml:brush xml:id="br0">
      <inkml:brushProperty name="width" value="0.05292" units="cm"/>
      <inkml:brushProperty name="height" value="0.05292" units="cm"/>
      <inkml:brushProperty name="color" value="#FF0000"/>
    </inkml:brush>
  </inkml:definitions>
  <inkml:trace contextRef="#ctx0" brushRef="#br0">19198 9376 0,'0'-99'47,"0"74"-31,-4043 0-1,8086 1 1,-4043-1-1,-25 25 17,-24-25-1,24 25 0,0-25-15,-24 25-1,-26 0 1,1 0 0,24 0 15,1 0-15,-26 0-1,50 0-15,-49-25 16,24 25-1,-24 0 1,-1 0 0,-24-49-1,25 49 1,-125-25 0,51 25-1,-51-75 1,50 75-1,75-24 17,-25 24-17,74 0 1,-124 0 78,50 0-79,-124 0 1,-199 0 0,199 0-16,-100 0 15,75 0 1,199 0-1,24 0 126,-124 49-125,-74 175-1,-25-26 1,74-49 0,100-50-1,24-49 1,0-1 15,50 1-15,-24-25-1,24 49 1,-50 50 0,25-74-16,25-1 15,-74 100 1,74 0-1,-75 0 1,51-25 0,24-25-1,0 50 1,0-50 0,24-49-1,51 49 16,-50-74-31,-25 0 16,0 49-16,24-49 16,51 148-1,-50-98 1,24-1 0,1 50-1,-1 0 1,75 25-1,-24-50 1,-1 1 0,-50-76-1,51 1 1,-51 0 0,1-25 15,-25 25-16,49-25 1,50 0 0,75 49-1,123-24 1,75 25 0,74 24-1,-124-74 1,-173 0-1,-99 0-15,-51 0 63,224-25-32,-173 25-15,74-49-1,24 49 1,26-50 0,24 25-1,-49-24 1,-125 49-16,26-25 16,73-124-1,-73 99 1,-1-24-1,50-124 1,25-1 0,-25 26-1,-74-1 1,-1 100 15,-24-26-15,-25-49-1,0-24 1,0 49 0,0-25-1,0 25 1,0 25 0,-49 0-1,-1 24 1,25 26-1,0-1 1,25 0 0,-24 25 15,-26-24-31,50 24 31,-25-25-15,0 26-1,0-1 1,25-25 0,-49 1-1,24-1 1,-25 0 0,26 26-1,-1-51 1,0 75-16,0-25 15,-24-24 1,24-1 0,25 1 15,-50-1-15,25 25-1,25 0 1,-24 1-1,-1-1 1</inkml:trace>
  <inkml:trace contextRef="#ctx0" brushRef="#br0" timeOffset="11699.81">13047 13271 0,'-25'0'62,"25"-25"-31,49 25-15,-24 0 0,50 0-1,-1 0 1,25 0 0,-74 0-1,50 0 1,-51 0-1,51 0 1,49 0 0,0 0-1,0 0 1,-75 0-16,-24 0 16,0 0-16,25 0 15,24 0 1,-24 0 31,49 0-32,-25 0 1,1 0 0,24-50-1,0 50 1,0 0-1,-24 0 1,-50 0-16,-25-25 16,74 25-1,-24-25 1,-75 25 234,0 0-234,25 25-1,-25-25 32,-49 0-31,-1-25-1,26-74 1,-26 0 0,51 49-1,-1 26 1,0-26 78,0 50 124,0 0-186,-148 0-1,98 0-16,26 0 1,-51 0 0,76 0-1,-1 0 17,-25 0-17,25-25 1,-24 25-1,24 0 17,0 0-17,-4043-25 1,8037 25 15,-4118-49-15,50 24-1,0 25-15,49-50 16,-99 26 0,75 24-1,49 0 1,0 0 0,0-25-1,1 25 63,-1 0-46,0 25-17,0-25 32,25 24-31,-49 26-1,49 0 1,0-1 0,0-24-1,0 0 1,0 24-1,0 1 1,0 24 0,0-24-1,0-25 17,0 0-17,0-1 1,24-24 15,-24 25 125,25-25-124,25 0-1,-25 0-16</inkml:trace>
  <inkml:trace contextRef="#ctx0" brushRef="#br0" timeOffset="16810.7">8979 9426 0,'25'0'94,"-1"0"-63,1 0-15,0 0-16,49 0 47,26 0-32,-1 0 1,50-25-1,-25-25 1,-25 50 0,-25-49-1,-24 49 1,-25 0 0,24 0 109,1 0-110,74-25 1,-25 0-1,75 25 1,-25-25 0,-100 25-16,-24 0 15,25 0 1</inkml:trace>
  <inkml:trace contextRef="#ctx0" brushRef="#br0" timeOffset="33835.1">20736 5755 0,'0'0'0,"-49"-50"16,-26-24-1,-99-100 1,-49 0 15,-74-49-15,-249-50-1,-471-148 1,-819-150 0,968 348-16,-50 49 15,-1835-148 1,1910 322 0,148 49-1,125 26 1,173 49-1,-3994 74 1,8013 50 0,-4366 75-1,-993 322 17,1043-397-17,-1166 620 1,1140-471-1,224 99 1,198 0 0,100 74-1,74 75 1,25 50 0,49 74-1,-49 49 1,99-123-1,74 272 1,150-223 0,-26-173-1,174 49 17,223 124-17,150 75 1,296-1-1,770 299 1,99-348 0,174-348-1,-348-421 1,-273 0 0,26 0-1,-820 0 1,-48-49-1,23-348 1,-23-50 0,48-123-1,-173 123 17,-99 100-17,-74 49 1,-150-24-1,-49-25 1,75-174 0,49 74-1,25 1 1,0-224 0,-25-25-1,-174 26 1,-74-1-1,0 50 1,0 0 0,-25 99 15,-74 0-15,49 298-16,-49-50 15,-223-620 1,98 372-1,100 273 1,75 74 0,-50 50-1,24-25 1,1 75 0,24 24-1,1 1 1,24-26-1,-124-173 17,124 174-17,-49-149 1,-1-125 0,-24 100-1,50 50 1,24 74-1,0 25 1,25 49 0,0 25 93,0-24-93,0-1-1,0 25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3973288" y="764410"/>
            <a:ext cx="1672253" cy="646331"/>
          </a:xfrm>
          <a:prstGeom prst="rect">
            <a:avLst/>
          </a:prstGeom>
          <a:noFill/>
        </p:spPr>
        <p:txBody>
          <a:bodyPr wrap="none" rtlCol="0">
            <a:spAutoFit/>
          </a:bodyPr>
          <a:lstStyle/>
          <a:p>
            <a:r>
              <a:rPr lang="fr-FR" sz="3600" dirty="0" err="1"/>
              <a:t>MLOps</a:t>
            </a:r>
            <a:endParaRPr lang="fr-FR" sz="3600" dirty="0"/>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ED7E48-4372-254C-18E1-9FE8ECF439FC}"/>
              </a:ext>
            </a:extLst>
          </p:cNvPr>
          <p:cNvSpPr>
            <a:spLocks noGrp="1"/>
          </p:cNvSpPr>
          <p:nvPr>
            <p:ph type="title"/>
          </p:nvPr>
        </p:nvSpPr>
        <p:spPr/>
        <p:txBody>
          <a:bodyPr/>
          <a:lstStyle/>
          <a:p>
            <a:r>
              <a:rPr lang="fr-FR" dirty="0" err="1"/>
              <a:t>MLOps</a:t>
            </a:r>
            <a:endParaRPr lang="fr-FR" dirty="0"/>
          </a:p>
        </p:txBody>
      </p:sp>
      <p:sp>
        <p:nvSpPr>
          <p:cNvPr id="3" name="Espace réservé du contenu 2">
            <a:extLst>
              <a:ext uri="{FF2B5EF4-FFF2-40B4-BE49-F238E27FC236}">
                <a16:creationId xmlns:a16="http://schemas.microsoft.com/office/drawing/2014/main" id="{5FE56BCD-5891-7793-EDDA-58281F532E4E}"/>
              </a:ext>
            </a:extLst>
          </p:cNvPr>
          <p:cNvSpPr>
            <a:spLocks noGrp="1"/>
          </p:cNvSpPr>
          <p:nvPr>
            <p:ph idx="1"/>
          </p:nvPr>
        </p:nvSpPr>
        <p:spPr/>
        <p:txBody>
          <a:bodyPr/>
          <a:lstStyle/>
          <a:p>
            <a:r>
              <a:rPr lang="fr-FR" dirty="0"/>
              <a:t>Machine Learning </a:t>
            </a:r>
            <a:r>
              <a:rPr lang="fr-FR" dirty="0" err="1"/>
              <a:t>Operational</a:t>
            </a:r>
            <a:endParaRPr lang="fr-FR" dirty="0"/>
          </a:p>
          <a:p>
            <a:r>
              <a:rPr lang="fr-FR" dirty="0" err="1"/>
              <a:t>Wikipedia</a:t>
            </a:r>
            <a:endParaRPr lang="fr-FR" dirty="0"/>
          </a:p>
          <a:p>
            <a:pPr lvl="1"/>
            <a:r>
              <a:rPr lang="fr-FR" dirty="0" err="1"/>
              <a:t>MLOps</a:t>
            </a:r>
            <a:r>
              <a:rPr lang="fr-FR" dirty="0"/>
              <a:t> est un ensemble de pratiques qui vise à déployer et maintenir des modèles de Machine Learning en production de manière fiable et efficace</a:t>
            </a:r>
          </a:p>
          <a:p>
            <a:pPr lvl="1"/>
            <a:r>
              <a:rPr lang="fr-FR" dirty="0"/>
              <a:t>Ce terme est composé de Machine Learning et de la pratique de développement continu de </a:t>
            </a:r>
            <a:r>
              <a:rPr lang="fr-FR" dirty="0" err="1"/>
              <a:t>devops</a:t>
            </a:r>
            <a:r>
              <a:rPr lang="fr-FR" dirty="0"/>
              <a:t> dans le domaine des logiciels</a:t>
            </a:r>
          </a:p>
        </p:txBody>
      </p:sp>
    </p:spTree>
    <p:extLst>
      <p:ext uri="{BB962C8B-B14F-4D97-AF65-F5344CB8AC3E}">
        <p14:creationId xmlns:p14="http://schemas.microsoft.com/office/powerpoint/2010/main" val="135304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4" name="Picture 2" descr="undefined">
            <a:extLst>
              <a:ext uri="{FF2B5EF4-FFF2-40B4-BE49-F238E27FC236}">
                <a16:creationId xmlns:a16="http://schemas.microsoft.com/office/drawing/2014/main" id="{34886B57-CFA4-B182-0DD9-92B983D51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854" y="764704"/>
            <a:ext cx="7978291" cy="5734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4CC96-E1CC-5D88-3519-3203967B928D}"/>
              </a:ext>
            </a:extLst>
          </p:cNvPr>
          <p:cNvSpPr>
            <a:spLocks noGrp="1"/>
          </p:cNvSpPr>
          <p:nvPr>
            <p:ph type="title"/>
          </p:nvPr>
        </p:nvSpPr>
        <p:spPr/>
        <p:txBody>
          <a:bodyPr/>
          <a:lstStyle/>
          <a:p>
            <a:r>
              <a:rPr lang="fr-FR" dirty="0"/>
              <a:t>Machine Learning</a:t>
            </a:r>
          </a:p>
        </p:txBody>
      </p:sp>
      <p:sp>
        <p:nvSpPr>
          <p:cNvPr id="3" name="Espace réservé du contenu 2">
            <a:extLst>
              <a:ext uri="{FF2B5EF4-FFF2-40B4-BE49-F238E27FC236}">
                <a16:creationId xmlns:a16="http://schemas.microsoft.com/office/drawing/2014/main" id="{584E5C90-3CA1-079B-4894-FED3D78E44DA}"/>
              </a:ext>
            </a:extLst>
          </p:cNvPr>
          <p:cNvSpPr>
            <a:spLocks noGrp="1"/>
          </p:cNvSpPr>
          <p:nvPr>
            <p:ph idx="1"/>
          </p:nvPr>
        </p:nvSpPr>
        <p:spPr/>
        <p:txBody>
          <a:bodyPr/>
          <a:lstStyle/>
          <a:p>
            <a:r>
              <a:rPr lang="fr-FR" dirty="0" err="1"/>
              <a:t>Wikipedia</a:t>
            </a:r>
            <a:endParaRPr lang="fr-FR" dirty="0"/>
          </a:p>
          <a:p>
            <a:pPr lvl="1"/>
            <a:r>
              <a:rPr lang="fr-FR" dirty="0"/>
              <a:t>Machine Learning est un champ d'étude de l'intelligence artificielle qui se fonde sur des approches mathématiques et statistiques pour donner aux ordinateurs la capacité d'apprendre à partir de données</a:t>
            </a:r>
          </a:p>
          <a:p>
            <a:pPr lvl="1"/>
            <a:r>
              <a:rPr lang="fr-FR" dirty="0"/>
              <a:t>C'est-à-dire d'améliorer leurs performances à résoudre des tâches sans être explicitement programmés pour chacune</a:t>
            </a:r>
          </a:p>
        </p:txBody>
      </p:sp>
    </p:spTree>
    <p:extLst>
      <p:ext uri="{BB962C8B-B14F-4D97-AF65-F5344CB8AC3E}">
        <p14:creationId xmlns:p14="http://schemas.microsoft.com/office/powerpoint/2010/main" val="910868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176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ADE81-96B1-1054-A0E8-BDF6D81D216B}"/>
              </a:ext>
            </a:extLst>
          </p:cNvPr>
          <p:cNvSpPr>
            <a:spLocks noGrp="1"/>
          </p:cNvSpPr>
          <p:nvPr>
            <p:ph type="title"/>
          </p:nvPr>
        </p:nvSpPr>
        <p:spPr/>
        <p:txBody>
          <a:bodyPr/>
          <a:lstStyle/>
          <a:p>
            <a:r>
              <a:rPr lang="fr-FR" dirty="0"/>
              <a:t>Apprentissage</a:t>
            </a:r>
          </a:p>
        </p:txBody>
      </p:sp>
      <p:sp>
        <p:nvSpPr>
          <p:cNvPr id="3" name="Espace réservé du contenu 2">
            <a:extLst>
              <a:ext uri="{FF2B5EF4-FFF2-40B4-BE49-F238E27FC236}">
                <a16:creationId xmlns:a16="http://schemas.microsoft.com/office/drawing/2014/main" id="{8FCDE6DE-1C41-6938-2F22-19D9EE7EA0F4}"/>
              </a:ext>
            </a:extLst>
          </p:cNvPr>
          <p:cNvSpPr>
            <a:spLocks noGrp="1"/>
          </p:cNvSpPr>
          <p:nvPr>
            <p:ph idx="1"/>
          </p:nvPr>
        </p:nvSpPr>
        <p:spPr/>
        <p:txBody>
          <a:bodyPr/>
          <a:lstStyle/>
          <a:p>
            <a:r>
              <a:rPr lang="fr-FR" dirty="0"/>
              <a:t>La phase d’apprentissage consiste à estimer un modèle à partir de données, appelées observations, qui sont disponibles et en nombre fini, lors de la phase de conception du système</a:t>
            </a:r>
          </a:p>
          <a:p>
            <a:r>
              <a:rPr lang="fr-FR" dirty="0"/>
              <a:t>Cette phase est généralement réalisée préalablement à l'utilisation pratique du modèle</a:t>
            </a:r>
          </a:p>
        </p:txBody>
      </p:sp>
    </p:spTree>
    <p:extLst>
      <p:ext uri="{BB962C8B-B14F-4D97-AF65-F5344CB8AC3E}">
        <p14:creationId xmlns:p14="http://schemas.microsoft.com/office/powerpoint/2010/main" val="199382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CE8E8F-5715-5783-5BFC-E0889C245933}"/>
              </a:ext>
            </a:extLst>
          </p:cNvPr>
          <p:cNvSpPr>
            <a:spLocks noGrp="1"/>
          </p:cNvSpPr>
          <p:nvPr>
            <p:ph type="title"/>
          </p:nvPr>
        </p:nvSpPr>
        <p:spPr/>
        <p:txBody>
          <a:bodyPr/>
          <a:lstStyle/>
          <a:p>
            <a:r>
              <a:rPr lang="fr-FR" dirty="0"/>
              <a:t>Prédiction</a:t>
            </a:r>
          </a:p>
        </p:txBody>
      </p:sp>
      <p:sp>
        <p:nvSpPr>
          <p:cNvPr id="3" name="Espace réservé du contenu 2">
            <a:extLst>
              <a:ext uri="{FF2B5EF4-FFF2-40B4-BE49-F238E27FC236}">
                <a16:creationId xmlns:a16="http://schemas.microsoft.com/office/drawing/2014/main" id="{40BAE4E8-C46C-1612-D06A-AA82B8DEAE64}"/>
              </a:ext>
            </a:extLst>
          </p:cNvPr>
          <p:cNvSpPr>
            <a:spLocks noGrp="1"/>
          </p:cNvSpPr>
          <p:nvPr>
            <p:ph idx="1"/>
          </p:nvPr>
        </p:nvSpPr>
        <p:spPr/>
        <p:txBody>
          <a:bodyPr/>
          <a:lstStyle/>
          <a:p>
            <a:r>
              <a:rPr lang="fr-FR" dirty="0"/>
              <a:t>La seconde phase à la prédiction</a:t>
            </a:r>
          </a:p>
          <a:p>
            <a:r>
              <a:rPr lang="fr-FR" dirty="0"/>
              <a:t>Le modèle étant déterminé, de nouvelles données peuvent alors être soumises afin d'obtenir le résultat correspondant à la tâche souhaitée</a:t>
            </a:r>
          </a:p>
          <a:p>
            <a:endParaRPr lang="fr-FR" dirty="0"/>
          </a:p>
        </p:txBody>
      </p:sp>
    </p:spTree>
    <p:extLst>
      <p:ext uri="{BB962C8B-B14F-4D97-AF65-F5344CB8AC3E}">
        <p14:creationId xmlns:p14="http://schemas.microsoft.com/office/powerpoint/2010/main" val="2794754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CE8E8F-5715-5783-5BFC-E0889C245933}"/>
              </a:ext>
            </a:extLst>
          </p:cNvPr>
          <p:cNvSpPr>
            <a:spLocks noGrp="1"/>
          </p:cNvSpPr>
          <p:nvPr>
            <p:ph type="title"/>
          </p:nvPr>
        </p:nvSpPr>
        <p:spPr/>
        <p:txBody>
          <a:bodyPr/>
          <a:lstStyle/>
          <a:p>
            <a:r>
              <a:rPr lang="fr-FR" dirty="0"/>
              <a:t>Production</a:t>
            </a:r>
          </a:p>
        </p:txBody>
      </p:sp>
      <p:sp>
        <p:nvSpPr>
          <p:cNvPr id="3" name="Espace réservé du contenu 2">
            <a:extLst>
              <a:ext uri="{FF2B5EF4-FFF2-40B4-BE49-F238E27FC236}">
                <a16:creationId xmlns:a16="http://schemas.microsoft.com/office/drawing/2014/main" id="{40BAE4E8-C46C-1612-D06A-AA82B8DEAE64}"/>
              </a:ext>
            </a:extLst>
          </p:cNvPr>
          <p:cNvSpPr>
            <a:spLocks noGrp="1"/>
          </p:cNvSpPr>
          <p:nvPr>
            <p:ph idx="1"/>
          </p:nvPr>
        </p:nvSpPr>
        <p:spPr/>
        <p:txBody>
          <a:bodyPr/>
          <a:lstStyle/>
          <a:p>
            <a:r>
              <a:rPr lang="fr-FR" dirty="0"/>
              <a:t>La 3</a:t>
            </a:r>
            <a:r>
              <a:rPr lang="fr-FR" baseline="30000" dirty="0"/>
              <a:t>ème</a:t>
            </a:r>
            <a:r>
              <a:rPr lang="fr-FR" dirty="0"/>
              <a:t> phase correspond à la mise en production</a:t>
            </a:r>
          </a:p>
          <a:p>
            <a:r>
              <a:rPr lang="fr-FR" dirty="0"/>
              <a:t>Le modèle figé, de nouvelles données peuvent alors être soumises afin d'obtenir le résultat correspondant à la tâche souhaitée dans un environnement de production</a:t>
            </a:r>
          </a:p>
          <a:p>
            <a:pPr lvl="1"/>
            <a:r>
              <a:rPr lang="fr-FR" dirty="0"/>
              <a:t>En pratique, certains systèmes peuvent poursuivre leur apprentissage une fois en production, pour peu qu'ils aient un moyen d'obtenir un retour sur la qualité des résultats produits.</a:t>
            </a:r>
          </a:p>
          <a:p>
            <a:endParaRPr lang="fr-FR" dirty="0"/>
          </a:p>
        </p:txBody>
      </p:sp>
    </p:spTree>
    <p:extLst>
      <p:ext uri="{BB962C8B-B14F-4D97-AF65-F5344CB8AC3E}">
        <p14:creationId xmlns:p14="http://schemas.microsoft.com/office/powerpoint/2010/main" val="2302784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supervisé</a:t>
            </a:r>
          </a:p>
        </p:txBody>
      </p:sp>
      <p:sp>
        <p:nvSpPr>
          <p:cNvPr id="3" name="Espace réservé du contenu 2"/>
          <p:cNvSpPr>
            <a:spLocks noGrp="1"/>
          </p:cNvSpPr>
          <p:nvPr>
            <p:ph idx="1"/>
          </p:nvPr>
        </p:nvSpPr>
        <p:spPr/>
        <p:txBody>
          <a:bodyPr/>
          <a:lstStyle/>
          <a:p>
            <a:r>
              <a:rPr lang="fr-FR" dirty="0"/>
              <a:t>Dans cet exemple les images ont été annotés par un expert avec leur catégorie</a:t>
            </a:r>
          </a:p>
          <a:p>
            <a:pPr lvl="1"/>
            <a:r>
              <a:rPr lang="fr-FR" dirty="0"/>
              <a:t>La machine apprend puis prédit</a:t>
            </a:r>
          </a:p>
        </p:txBody>
      </p:sp>
      <p:pic>
        <p:nvPicPr>
          <p:cNvPr id="1026" name="Picture 2" descr="Chaque image est labellée de sa catégo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852936"/>
            <a:ext cx="45339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707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2000" dirty="0" err="1"/>
              <a:t>PyTorch</a:t>
            </a:r>
            <a:endParaRPr lang="fr-FR" sz="2000" dirty="0"/>
          </a:p>
          <a:p>
            <a:pPr lvl="2"/>
            <a:r>
              <a:rPr lang="fr-FR" sz="1600" dirty="0"/>
              <a:t>Facebook</a:t>
            </a:r>
          </a:p>
          <a:p>
            <a:r>
              <a:rPr lang="fr-FR"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couche (MLP)</a:t>
            </a:r>
          </a:p>
          <a:p>
            <a:pPr lvl="1"/>
            <a:r>
              <a:rPr lang="fr-FR" dirty="0"/>
              <a:t>En graphe (plus complexe)</a:t>
            </a:r>
          </a:p>
          <a:p>
            <a:pPr lvl="1"/>
            <a:r>
              <a:rPr lang="fr-FR" dirty="0"/>
              <a:t>Poids multiples</a:t>
            </a:r>
          </a:p>
          <a:p>
            <a:r>
              <a:rPr lang="fr-FR" dirty="0"/>
              <a:t>Très couteux</a:t>
            </a:r>
          </a:p>
          <a:p>
            <a:pPr lvl="1"/>
            <a:r>
              <a:rPr lang="fr-FR" dirty="0"/>
              <a:t>Mais donne de très bon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3" name="Encre 2">
                <a:extLst>
                  <a:ext uri="{FF2B5EF4-FFF2-40B4-BE49-F238E27FC236}">
                    <a16:creationId xmlns:a16="http://schemas.microsoft.com/office/drawing/2014/main" id="{432B6C52-2DEE-BBBD-1226-270A175F56C7}"/>
                  </a:ext>
                </a:extLst>
              </p14:cNvPr>
              <p14:cNvContentPartPr/>
              <p14:nvPr/>
            </p14:nvContentPartPr>
            <p14:xfrm>
              <a:off x="571320" y="1107360"/>
              <a:ext cx="7126200" cy="5742000"/>
            </p14:xfrm>
          </p:contentPart>
        </mc:Choice>
        <mc:Fallback>
          <p:pic>
            <p:nvPicPr>
              <p:cNvPr id="3" name="Encre 2">
                <a:extLst>
                  <a:ext uri="{FF2B5EF4-FFF2-40B4-BE49-F238E27FC236}">
                    <a16:creationId xmlns:a16="http://schemas.microsoft.com/office/drawing/2014/main" id="{432B6C52-2DEE-BBBD-1226-270A175F56C7}"/>
                  </a:ext>
                </a:extLst>
              </p:cNvPr>
              <p:cNvPicPr/>
              <p:nvPr/>
            </p:nvPicPr>
            <p:blipFill>
              <a:blip r:embed="rId4"/>
              <a:stretch>
                <a:fillRect/>
              </a:stretch>
            </p:blipFill>
            <p:spPr>
              <a:xfrm>
                <a:off x="561960" y="1098000"/>
                <a:ext cx="7144920" cy="5760720"/>
              </a:xfrm>
              <a:prstGeom prst="rect">
                <a:avLst/>
              </a:prstGeom>
            </p:spPr>
          </p:pic>
        </mc:Fallback>
      </mc:AlternateContent>
    </p:spTree>
    <p:extLst>
      <p:ext uri="{BB962C8B-B14F-4D97-AF65-F5344CB8AC3E}">
        <p14:creationId xmlns:p14="http://schemas.microsoft.com/office/powerpoint/2010/main" val="4247828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53DFA8-ADE3-92F4-F517-C4E45DC3438F}"/>
              </a:ext>
            </a:extLst>
          </p:cNvPr>
          <p:cNvSpPr>
            <a:spLocks noGrp="1"/>
          </p:cNvSpPr>
          <p:nvPr>
            <p:ph type="title"/>
          </p:nvPr>
        </p:nvSpPr>
        <p:spPr/>
        <p:txBody>
          <a:bodyPr/>
          <a:lstStyle/>
          <a:p>
            <a:r>
              <a:rPr lang="fr-FR" dirty="0"/>
              <a:t>DevOps</a:t>
            </a:r>
          </a:p>
        </p:txBody>
      </p:sp>
      <p:sp>
        <p:nvSpPr>
          <p:cNvPr id="3" name="Espace réservé du contenu 2">
            <a:extLst>
              <a:ext uri="{FF2B5EF4-FFF2-40B4-BE49-F238E27FC236}">
                <a16:creationId xmlns:a16="http://schemas.microsoft.com/office/drawing/2014/main" id="{AA8790CE-8B57-2F85-5E0B-E9811E97C088}"/>
              </a:ext>
            </a:extLst>
          </p:cNvPr>
          <p:cNvSpPr>
            <a:spLocks noGrp="1"/>
          </p:cNvSpPr>
          <p:nvPr>
            <p:ph idx="1"/>
          </p:nvPr>
        </p:nvSpPr>
        <p:spPr/>
        <p:txBody>
          <a:bodyPr/>
          <a:lstStyle/>
          <a:p>
            <a:r>
              <a:rPr lang="fr-FR" dirty="0"/>
              <a:t>Le DevOps est un mouvement en ingénierie informatique et une pratique technique visant à l'unification du développement logiciel (dev) et de l'administration des infrastructures informatiques (</a:t>
            </a:r>
            <a:r>
              <a:rPr lang="fr-FR" dirty="0" err="1"/>
              <a:t>ops</a:t>
            </a:r>
            <a:r>
              <a:rPr lang="fr-FR" dirty="0"/>
              <a:t>), notamment l'administration système</a:t>
            </a:r>
          </a:p>
          <a:p>
            <a:endParaRPr lang="fr-FR" dirty="0"/>
          </a:p>
        </p:txBody>
      </p:sp>
    </p:spTree>
    <p:extLst>
      <p:ext uri="{BB962C8B-B14F-4D97-AF65-F5344CB8AC3E}">
        <p14:creationId xmlns:p14="http://schemas.microsoft.com/office/powerpoint/2010/main" val="1383536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2D1B0-D225-AF12-B07D-AE796A92E172}"/>
              </a:ext>
            </a:extLst>
          </p:cNvPr>
          <p:cNvSpPr>
            <a:spLocks noGrp="1"/>
          </p:cNvSpPr>
          <p:nvPr>
            <p:ph type="title"/>
          </p:nvPr>
        </p:nvSpPr>
        <p:spPr/>
        <p:txBody>
          <a:bodyPr/>
          <a:lstStyle/>
          <a:p>
            <a:r>
              <a:rPr lang="fr-FR" dirty="0"/>
              <a:t>Le mur de la confusion</a:t>
            </a:r>
          </a:p>
        </p:txBody>
      </p:sp>
      <p:sp>
        <p:nvSpPr>
          <p:cNvPr id="3" name="Espace réservé du contenu 2">
            <a:extLst>
              <a:ext uri="{FF2B5EF4-FFF2-40B4-BE49-F238E27FC236}">
                <a16:creationId xmlns:a16="http://schemas.microsoft.com/office/drawing/2014/main" id="{3C0E8835-D19A-50E2-8328-A00FF137C319}"/>
              </a:ext>
            </a:extLst>
          </p:cNvPr>
          <p:cNvSpPr>
            <a:spLocks noGrp="1"/>
          </p:cNvSpPr>
          <p:nvPr>
            <p:ph idx="1"/>
          </p:nvPr>
        </p:nvSpPr>
        <p:spPr/>
        <p:txBody>
          <a:bodyPr/>
          <a:lstStyle/>
          <a:p>
            <a:r>
              <a:rPr lang="fr-FR" dirty="0"/>
              <a:t>Il faut savoir qu'à cette époque, l'informatique d'entreprise a "siloté" les aspects dev et </a:t>
            </a:r>
            <a:r>
              <a:rPr lang="fr-FR" dirty="0" err="1"/>
              <a:t>ops</a:t>
            </a:r>
            <a:r>
              <a:rPr lang="fr-FR" dirty="0"/>
              <a:t> des applications, en plaçant les responsabilités respectives dans des équipes séparées</a:t>
            </a:r>
          </a:p>
          <a:p>
            <a:r>
              <a:rPr lang="fr-FR" dirty="0"/>
              <a:t>Il s'est alors créé ce qu'on appelle le mur de la confusion. Ce mur est apparu car les deux équipes ont des objectifs respectifs antagonistes.</a:t>
            </a:r>
          </a:p>
        </p:txBody>
      </p:sp>
      <p:pic>
        <p:nvPicPr>
          <p:cNvPr id="1026" name="Picture 2" descr="Le mur de la confusion entre les équipes Dev et Ops">
            <a:extLst>
              <a:ext uri="{FF2B5EF4-FFF2-40B4-BE49-F238E27FC236}">
                <a16:creationId xmlns:a16="http://schemas.microsoft.com/office/drawing/2014/main" id="{7ED0BEE7-5774-D00B-8D13-52A4F9672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75" y="4641563"/>
            <a:ext cx="3160130" cy="1780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476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3AE5BC-5485-2C0F-394F-6187E0E3682F}"/>
              </a:ext>
            </a:extLst>
          </p:cNvPr>
          <p:cNvSpPr>
            <a:spLocks noGrp="1"/>
          </p:cNvSpPr>
          <p:nvPr>
            <p:ph type="title"/>
          </p:nvPr>
        </p:nvSpPr>
        <p:spPr/>
        <p:txBody>
          <a:bodyPr/>
          <a:lstStyle/>
          <a:p>
            <a:r>
              <a:rPr lang="fr-FR" dirty="0"/>
              <a:t>Outils</a:t>
            </a:r>
          </a:p>
        </p:txBody>
      </p:sp>
      <p:sp>
        <p:nvSpPr>
          <p:cNvPr id="3" name="Espace réservé du contenu 2">
            <a:extLst>
              <a:ext uri="{FF2B5EF4-FFF2-40B4-BE49-F238E27FC236}">
                <a16:creationId xmlns:a16="http://schemas.microsoft.com/office/drawing/2014/main" id="{EB62753B-8CD3-2D8A-E813-E11E9173F742}"/>
              </a:ext>
            </a:extLst>
          </p:cNvPr>
          <p:cNvSpPr>
            <a:spLocks noGrp="1"/>
          </p:cNvSpPr>
          <p:nvPr>
            <p:ph idx="1"/>
          </p:nvPr>
        </p:nvSpPr>
        <p:spPr/>
        <p:txBody>
          <a:bodyPr/>
          <a:lstStyle/>
          <a:p>
            <a:r>
              <a:rPr lang="fr-FR" dirty="0"/>
              <a:t>Essentiellement autour des technologies de conteneur léger</a:t>
            </a:r>
          </a:p>
          <a:p>
            <a:pPr lvl="1"/>
            <a:r>
              <a:rPr lang="fr-FR" dirty="0"/>
              <a:t>Docker, </a:t>
            </a:r>
            <a:r>
              <a:rPr lang="fr-FR" dirty="0" err="1"/>
              <a:t>Kubernetes</a:t>
            </a:r>
            <a:endParaRPr lang="fr-FR" dirty="0"/>
          </a:p>
          <a:p>
            <a:r>
              <a:rPr lang="fr-FR" dirty="0"/>
              <a:t>Architecture orientée micro-services</a:t>
            </a:r>
          </a:p>
          <a:p>
            <a:pPr lvl="1"/>
            <a:r>
              <a:rPr lang="fr-FR" dirty="0"/>
              <a:t>Flask, </a:t>
            </a:r>
            <a:r>
              <a:rPr lang="fr-FR" dirty="0" err="1"/>
              <a:t>FastAPI</a:t>
            </a:r>
            <a:endParaRPr lang="fr-FR" dirty="0"/>
          </a:p>
        </p:txBody>
      </p:sp>
    </p:spTree>
    <p:extLst>
      <p:ext uri="{BB962C8B-B14F-4D97-AF65-F5344CB8AC3E}">
        <p14:creationId xmlns:p14="http://schemas.microsoft.com/office/powerpoint/2010/main" val="3179439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5D1D-7A7E-23A5-901C-3D720DA057C2}"/>
              </a:ext>
            </a:extLst>
          </p:cNvPr>
          <p:cNvSpPr>
            <a:spLocks noGrp="1"/>
          </p:cNvSpPr>
          <p:nvPr>
            <p:ph type="title"/>
          </p:nvPr>
        </p:nvSpPr>
        <p:spPr/>
        <p:txBody>
          <a:bodyPr/>
          <a:lstStyle/>
          <a:p>
            <a:r>
              <a:rPr lang="fr-FR" dirty="0"/>
              <a:t>CALMS</a:t>
            </a:r>
          </a:p>
        </p:txBody>
      </p:sp>
      <p:sp>
        <p:nvSpPr>
          <p:cNvPr id="3" name="Espace réservé du contenu 2">
            <a:extLst>
              <a:ext uri="{FF2B5EF4-FFF2-40B4-BE49-F238E27FC236}">
                <a16:creationId xmlns:a16="http://schemas.microsoft.com/office/drawing/2014/main" id="{79930454-E3AE-9B85-7AF8-8EB9CA22C70B}"/>
              </a:ext>
            </a:extLst>
          </p:cNvPr>
          <p:cNvSpPr>
            <a:spLocks noGrp="1"/>
          </p:cNvSpPr>
          <p:nvPr>
            <p:ph idx="1"/>
          </p:nvPr>
        </p:nvSpPr>
        <p:spPr/>
        <p:txBody>
          <a:bodyPr/>
          <a:lstStyle/>
          <a:p>
            <a:r>
              <a:rPr lang="fr-FR" dirty="0"/>
              <a:t>Culture</a:t>
            </a:r>
          </a:p>
          <a:p>
            <a:pPr lvl="1"/>
            <a:r>
              <a:rPr lang="fr-FR" dirty="0"/>
              <a:t>Culture DevOps</a:t>
            </a:r>
          </a:p>
          <a:p>
            <a:r>
              <a:rPr lang="fr-FR" dirty="0"/>
              <a:t>Automatisation</a:t>
            </a:r>
          </a:p>
          <a:p>
            <a:pPr lvl="1"/>
            <a:r>
              <a:rPr lang="fr-FR" dirty="0"/>
              <a:t>Pipelines</a:t>
            </a:r>
          </a:p>
          <a:p>
            <a:r>
              <a:rPr lang="fr-FR" dirty="0"/>
              <a:t>Lean</a:t>
            </a:r>
          </a:p>
          <a:p>
            <a:pPr lvl="1"/>
            <a:r>
              <a:rPr lang="fr-FR" dirty="0"/>
              <a:t>Chaine de valeurs sans gaspillage</a:t>
            </a:r>
          </a:p>
          <a:p>
            <a:r>
              <a:rPr lang="fr-FR" dirty="0"/>
              <a:t>Mesure</a:t>
            </a:r>
          </a:p>
          <a:p>
            <a:pPr lvl="1"/>
            <a:r>
              <a:rPr lang="fr-FR" dirty="0"/>
              <a:t>Watch, surveillance</a:t>
            </a:r>
          </a:p>
          <a:p>
            <a:r>
              <a:rPr lang="fr-FR" dirty="0"/>
              <a:t>Share</a:t>
            </a:r>
          </a:p>
          <a:p>
            <a:pPr lvl="1"/>
            <a:r>
              <a:rPr lang="fr-FR" dirty="0"/>
              <a:t>Partage Dev et Ops</a:t>
            </a:r>
          </a:p>
        </p:txBody>
      </p:sp>
    </p:spTree>
    <p:extLst>
      <p:ext uri="{BB962C8B-B14F-4D97-AF65-F5344CB8AC3E}">
        <p14:creationId xmlns:p14="http://schemas.microsoft.com/office/powerpoint/2010/main" val="880616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3445</TotalTime>
  <Words>1370</Words>
  <Application>Microsoft Office PowerPoint</Application>
  <PresentationFormat>Affichage à l'écran (4:3)</PresentationFormat>
  <Paragraphs>164</Paragraphs>
  <Slides>48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48</vt:i4>
      </vt:variant>
    </vt:vector>
  </HeadingPairs>
  <TitlesOfParts>
    <vt:vector size="52" baseType="lpstr">
      <vt:lpstr>Arial</vt:lpstr>
      <vt:lpstr>Monotype Sorts</vt:lpstr>
      <vt:lpstr>Times New Roman</vt:lpstr>
      <vt:lpstr>cvc</vt:lpstr>
      <vt:lpstr>Présentation PowerPoint</vt:lpstr>
      <vt:lpstr>MLOps</vt:lpstr>
      <vt:lpstr>Présentation PowerPoint</vt:lpstr>
      <vt:lpstr>Présentation PowerPoint</vt:lpstr>
      <vt:lpstr>Wikipedia</vt:lpstr>
      <vt:lpstr>Data Science</vt:lpstr>
      <vt:lpstr>Data Science</vt:lpstr>
      <vt:lpstr>Présentation PowerPoint</vt:lpstr>
      <vt:lpstr>Les langages</vt:lpstr>
      <vt:lpstr>Data Scientist</vt:lpstr>
      <vt:lpstr>Difficultés</vt:lpstr>
      <vt:lpstr>Présentation PowerPoint</vt:lpstr>
      <vt:lpstr>L'intelligence artificielle</vt:lpstr>
      <vt:lpstr>Copier la nature ou non</vt:lpstr>
      <vt:lpstr>Machine Learning</vt:lpstr>
      <vt:lpstr>IA - ML - DL</vt:lpstr>
      <vt:lpstr>Machine Learning</vt:lpstr>
      <vt:lpstr>But</vt:lpstr>
      <vt:lpstr>Apprentissage</vt:lpstr>
      <vt:lpstr>Prédiction</vt:lpstr>
      <vt:lpstr>Production</vt:lpstr>
      <vt:lpstr>Machine Learning</vt:lpstr>
      <vt:lpstr>Apprentissage supervisé</vt:lpstr>
      <vt:lpstr>Apprentissage non supervisé ou semi-supervisé</vt:lpstr>
      <vt:lpstr>Exemple</vt:lpstr>
      <vt:lpstr>Graphique</vt:lpstr>
      <vt:lpstr>Régression linéaire</vt:lpstr>
      <vt:lpstr>Classification</vt:lpstr>
      <vt:lpstr>Apprentissage</vt:lpstr>
      <vt:lpstr>Les langages et Frameworks</vt:lpstr>
      <vt:lpstr>Les Frameworks ML et DL</vt:lpstr>
      <vt:lpstr>Deep Learning</vt:lpstr>
      <vt:lpstr>Neurone</vt:lpstr>
      <vt:lpstr>Neurone</vt:lpstr>
      <vt:lpstr>Réseaux</vt:lpstr>
      <vt:lpstr>Présentation PowerPoint</vt:lpstr>
      <vt:lpstr>Workflow</vt:lpstr>
      <vt:lpstr>Yann Le Cun</vt:lpstr>
      <vt:lpstr>François Chollet</vt:lpstr>
      <vt:lpstr>Les enjeux 1/3</vt:lpstr>
      <vt:lpstr>Les nouvelles sources de données</vt:lpstr>
      <vt:lpstr>Les enjeux 2/3</vt:lpstr>
      <vt:lpstr>Les enjeux 3/3</vt:lpstr>
      <vt:lpstr>DevOps</vt:lpstr>
      <vt:lpstr>Le mur de la confusion</vt:lpstr>
      <vt:lpstr>Outils</vt:lpstr>
      <vt:lpstr>CALMS</vt:lpstr>
      <vt:lpstr>Présentation PowerPoint</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239</cp:revision>
  <dcterms:created xsi:type="dcterms:W3CDTF">2000-04-10T19:33:12Z</dcterms:created>
  <dcterms:modified xsi:type="dcterms:W3CDTF">2025-09-22T09:22:53Z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