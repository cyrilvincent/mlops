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6"/>
  </p:notesMasterIdLst>
  <p:handoutMasterIdLst>
    <p:handoutMasterId r:id="rId17"/>
  </p:handoutMasterIdLst>
  <p:sldIdLst>
    <p:sldId id="264" r:id="rId2"/>
    <p:sldId id="265" r:id="rId3"/>
    <p:sldId id="270" r:id="rId4"/>
    <p:sldId id="358" r:id="rId5"/>
    <p:sldId id="359" r:id="rId6"/>
    <p:sldId id="361" r:id="rId7"/>
    <p:sldId id="362" r:id="rId8"/>
    <p:sldId id="356" r:id="rId9"/>
    <p:sldId id="364" r:id="rId10"/>
    <p:sldId id="266" r:id="rId11"/>
    <p:sldId id="267" r:id="rId12"/>
    <p:sldId id="268" r:id="rId13"/>
    <p:sldId id="269" r:id="rId14"/>
    <p:sldId id="272" r:id="rId15"/>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79" autoAdjust="0"/>
    <p:restoredTop sz="94590" autoAdjust="0"/>
  </p:normalViewPr>
  <p:slideViewPr>
    <p:cSldViewPr>
      <p:cViewPr varScale="1">
        <p:scale>
          <a:sx n="63" d="100"/>
          <a:sy n="63" d="100"/>
        </p:scale>
        <p:origin x="1626" y="2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extBox 5" hidden="1"/>
          <p:cNvSpPr txBox="1">
            <a:spLocks noChangeArrowheads="1"/>
          </p:cNvSpPr>
          <p:nvPr/>
        </p:nvSpPr>
        <p:spPr bwMode="auto">
          <a:xfrm>
            <a:off x="2286000" y="381000"/>
            <a:ext cx="3810000" cy="215900"/>
          </a:xfrm>
          <a:prstGeom prst="rect">
            <a:avLst/>
          </a:prstGeom>
          <a:noFill/>
          <a:ln w="9525">
            <a:noFill/>
            <a:miter lim="800000"/>
            <a:headEnd/>
            <a:tailEnd/>
          </a:ln>
        </p:spPr>
        <p:txBody>
          <a:bodyPr>
            <a:spAutoFit/>
          </a:bodyPr>
          <a:lstStyle/>
          <a:p>
            <a:pPr eaLnBrk="0" hangingPunct="0"/>
            <a:r>
              <a:rPr lang="pt-BR" sz="800">
                <a:solidFill>
                  <a:srgbClr val="000000"/>
                </a:solidFill>
              </a:rPr>
              <a:t>&lt;*s*o*u*r*c*e*&gt;*5*7*7*g*3*-*1*-*4*&lt;*/*s*o*u*r*c*e*&gt;</a:t>
            </a:r>
            <a:endParaRPr lang="en-US" sz="800" dirty="0">
              <a:solidFill>
                <a:srgbClr val="000000"/>
              </a:solidFill>
            </a:endParaRPr>
          </a:p>
        </p:txBody>
      </p:sp>
      <p:sp>
        <p:nvSpPr>
          <p:cNvPr id="18434" name="Rectangle 2"/>
          <p:cNvSpPr>
            <a:spLocks noGrp="1" noRot="1" noChangeAspect="1" noChangeArrowheads="1" noTextEdit="1"/>
          </p:cNvSpPr>
          <p:nvPr>
            <p:ph type="sldImg"/>
          </p:nvPr>
        </p:nvSpPr>
        <p:spPr>
          <a:xfrm>
            <a:off x="877888" y="733425"/>
            <a:ext cx="4892675" cy="3670300"/>
          </a:xfrm>
          <a:ln/>
        </p:spPr>
      </p:sp>
      <p:sp>
        <p:nvSpPr>
          <p:cNvPr id="18435" name="Rectangle 3"/>
          <p:cNvSpPr>
            <a:spLocks noGrp="1" noChangeArrowheads="1"/>
          </p:cNvSpPr>
          <p:nvPr>
            <p:ph type="body" idx="1"/>
          </p:nvPr>
        </p:nvSpPr>
        <p:spPr>
          <a:xfrm>
            <a:off x="228600" y="3962400"/>
            <a:ext cx="6488113" cy="2825750"/>
          </a:xfrm>
          <a:ln/>
        </p:spPr>
        <p:txBody>
          <a:bodyPr/>
          <a:lstStyle/>
          <a:p>
            <a:pPr eaLnBrk="1" hangingPunct="1"/>
            <a:r>
              <a:rPr lang="en-US"/>
              <a:t>Jogger text: What Is a Service-Oriented Architecture?</a:t>
            </a:r>
          </a:p>
          <a:p>
            <a:pPr eaLnBrk="1" hangingPunct="1"/>
            <a:r>
              <a:rPr lang="en-US"/>
              <a:t>Direction: Left</a:t>
            </a:r>
          </a:p>
          <a:p>
            <a:pPr eaLnBrk="1" hangingPunct="1"/>
            <a:r>
              <a:rPr lang="en-US"/>
              <a:t>Instructor notes:</a:t>
            </a:r>
          </a:p>
          <a:p>
            <a:pPr eaLnBrk="1" hangingPunct="1"/>
            <a:r>
              <a:rPr lang="en-US"/>
              <a:t>Every one defines SOA differently. I’m going with Erl’s definition which emphasizes loose coupling and interoperabililty.  Others start with the traditional consumer-producer-registry triangle which puts the implementation front and center.   We’ll introduce the triangle in the next section.  Here we’ll simply start with what makes an architecture an SOA, rather than describe how SOA is done.</a:t>
            </a:r>
          </a:p>
          <a:p>
            <a:pPr eaLnBrk="1" hangingPunct="1"/>
            <a:endParaRPr lang="en-US"/>
          </a:p>
          <a:p>
            <a:pPr eaLnBrk="1" hangingPunct="1"/>
            <a:r>
              <a:rPr lang="en-US"/>
              <a:t>A simple currency conversion service.  The client is a brokerage that needs to quote stock prices in US dollars.  It may need to access other services for other functionality.  You could write in “trading service” in one of the boxes for example and “place order” as the web service operation.  The third box is there for you to wave your arm and say “and some other service that it needs”</a:t>
            </a:r>
          </a:p>
          <a:p>
            <a:pPr eaLnBrk="1" hangingPunct="1"/>
            <a:endParaRPr lang="en-US" dirty="0"/>
          </a:p>
        </p:txBody>
      </p:sp>
    </p:spTree>
    <p:extLst>
      <p:ext uri="{BB962C8B-B14F-4D97-AF65-F5344CB8AC3E}">
        <p14:creationId xmlns:p14="http://schemas.microsoft.com/office/powerpoint/2010/main" val="1696931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Box 5" hidden="1"/>
          <p:cNvSpPr txBox="1">
            <a:spLocks noChangeArrowheads="1"/>
          </p:cNvSpPr>
          <p:nvPr/>
        </p:nvSpPr>
        <p:spPr bwMode="auto">
          <a:xfrm>
            <a:off x="2286000" y="381000"/>
            <a:ext cx="3810000" cy="215900"/>
          </a:xfrm>
          <a:prstGeom prst="rect">
            <a:avLst/>
          </a:prstGeom>
          <a:noFill/>
          <a:ln w="9525">
            <a:noFill/>
            <a:miter lim="800000"/>
            <a:headEnd/>
            <a:tailEnd/>
          </a:ln>
        </p:spPr>
        <p:txBody>
          <a:bodyPr>
            <a:spAutoFit/>
          </a:bodyPr>
          <a:lstStyle/>
          <a:p>
            <a:pPr eaLnBrk="0" hangingPunct="0"/>
            <a:r>
              <a:rPr lang="pt-BR" sz="800">
                <a:solidFill>
                  <a:srgbClr val="000000"/>
                </a:solidFill>
              </a:rPr>
              <a:t>&lt;*s*o*u*r*c*e*&gt;*5*7*7*g*3*-*1*-*5*&lt;*/*s*o*u*r*c*e*&gt;</a:t>
            </a:r>
            <a:endParaRPr lang="en-US" sz="800" dirty="0">
              <a:solidFill>
                <a:srgbClr val="000000"/>
              </a:solidFill>
            </a:endParaRPr>
          </a:p>
        </p:txBody>
      </p:sp>
      <p:sp>
        <p:nvSpPr>
          <p:cNvPr id="20482" name="Rectangle 2"/>
          <p:cNvSpPr>
            <a:spLocks noGrp="1" noRot="1" noChangeAspect="1" noChangeArrowheads="1" noTextEdit="1"/>
          </p:cNvSpPr>
          <p:nvPr>
            <p:ph type="sldImg"/>
          </p:nvPr>
        </p:nvSpPr>
        <p:spPr>
          <a:xfrm>
            <a:off x="877888" y="733425"/>
            <a:ext cx="4892675" cy="3670300"/>
          </a:xfrm>
          <a:ln/>
        </p:spPr>
      </p:sp>
      <p:sp>
        <p:nvSpPr>
          <p:cNvPr id="20483" name="Rectangle 3"/>
          <p:cNvSpPr>
            <a:spLocks noGrp="1" noChangeArrowheads="1"/>
          </p:cNvSpPr>
          <p:nvPr>
            <p:ph type="body" idx="1"/>
          </p:nvPr>
        </p:nvSpPr>
        <p:spPr>
          <a:xfrm>
            <a:off x="228600" y="3962400"/>
            <a:ext cx="6488113" cy="1422400"/>
          </a:xfrm>
          <a:ln/>
        </p:spPr>
        <p:txBody>
          <a:bodyPr/>
          <a:lstStyle/>
          <a:p>
            <a:pPr eaLnBrk="1" hangingPunct="1"/>
            <a:r>
              <a:rPr lang="en-US"/>
              <a:t>Jogger text: Loose Coupling</a:t>
            </a:r>
          </a:p>
          <a:p>
            <a:pPr eaLnBrk="1" hangingPunct="1"/>
            <a:r>
              <a:rPr lang="en-US"/>
              <a:t>Direction: Right</a:t>
            </a:r>
          </a:p>
          <a:p>
            <a:pPr eaLnBrk="1" hangingPunct="1"/>
            <a:r>
              <a:rPr lang="en-US"/>
              <a:t>Instructor notes:</a:t>
            </a:r>
          </a:p>
          <a:p>
            <a:pPr eaLnBrk="1" hangingPunct="1"/>
            <a:r>
              <a:rPr lang="en-US"/>
              <a:t>If someone asks:  but aren’t you tied to the interface?</a:t>
            </a:r>
          </a:p>
          <a:p>
            <a:pPr eaLnBrk="1" hangingPunct="1"/>
            <a:r>
              <a:rPr lang="en-US"/>
              <a:t>Answer: yes … we’ll also look at message-oriented interfaces to reduce coupling to the actual method name, etc.</a:t>
            </a:r>
            <a:endParaRPr lang="en-US" dirty="0"/>
          </a:p>
        </p:txBody>
      </p:sp>
    </p:spTree>
    <p:extLst>
      <p:ext uri="{BB962C8B-B14F-4D97-AF65-F5344CB8AC3E}">
        <p14:creationId xmlns:p14="http://schemas.microsoft.com/office/powerpoint/2010/main" val="3849554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extBox 5" hidden="1"/>
          <p:cNvSpPr txBox="1">
            <a:spLocks noChangeArrowheads="1"/>
          </p:cNvSpPr>
          <p:nvPr/>
        </p:nvSpPr>
        <p:spPr bwMode="auto">
          <a:xfrm>
            <a:off x="2286000" y="381000"/>
            <a:ext cx="3810000" cy="215900"/>
          </a:xfrm>
          <a:prstGeom prst="rect">
            <a:avLst/>
          </a:prstGeom>
          <a:noFill/>
          <a:ln w="9525">
            <a:noFill/>
            <a:miter lim="800000"/>
            <a:headEnd/>
            <a:tailEnd/>
          </a:ln>
        </p:spPr>
        <p:txBody>
          <a:bodyPr>
            <a:spAutoFit/>
          </a:bodyPr>
          <a:lstStyle/>
          <a:p>
            <a:pPr eaLnBrk="0" hangingPunct="0"/>
            <a:r>
              <a:rPr lang="pt-BR" sz="800">
                <a:solidFill>
                  <a:srgbClr val="000000"/>
                </a:solidFill>
              </a:rPr>
              <a:t>&lt;*s*o*u*r*c*e*&gt;*5*7*7*g*3*-*1*-*7*&lt;*/*s*o*u*r*c*e*&gt;</a:t>
            </a:r>
            <a:endParaRPr lang="en-US" sz="800" dirty="0">
              <a:solidFill>
                <a:srgbClr val="000000"/>
              </a:solidFill>
            </a:endParaRPr>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xfrm>
            <a:off x="228600" y="3962400"/>
            <a:ext cx="6488113" cy="1422400"/>
          </a:xfrm>
          <a:ln/>
        </p:spPr>
        <p:txBody>
          <a:bodyPr/>
          <a:lstStyle/>
          <a:p>
            <a:pPr eaLnBrk="1" hangingPunct="1"/>
            <a:r>
              <a:rPr lang="en-US"/>
              <a:t>Jogger text: Why Interoperable?</a:t>
            </a:r>
          </a:p>
          <a:p>
            <a:pPr eaLnBrk="1" hangingPunct="1"/>
            <a:r>
              <a:rPr lang="en-US"/>
              <a:t>Direction: Right</a:t>
            </a:r>
          </a:p>
          <a:p>
            <a:pPr eaLnBrk="1" hangingPunct="1"/>
            <a:r>
              <a:rPr lang="en-US"/>
              <a:t>Instructor notes:</a:t>
            </a:r>
          </a:p>
          <a:p>
            <a:pPr eaLnBrk="1" hangingPunct="1"/>
            <a:r>
              <a:rPr lang="en-US"/>
              <a:t>Business rules that change frequently:  e.g.: if the taxable status of something changes, need to fix only one application.</a:t>
            </a:r>
          </a:p>
          <a:p>
            <a:pPr eaLnBrk="1" hangingPunct="1"/>
            <a:endParaRPr lang="en-US" dirty="0"/>
          </a:p>
        </p:txBody>
      </p:sp>
    </p:spTree>
    <p:extLst>
      <p:ext uri="{BB962C8B-B14F-4D97-AF65-F5344CB8AC3E}">
        <p14:creationId xmlns:p14="http://schemas.microsoft.com/office/powerpoint/2010/main" val="2149759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extBox 5" hidden="1"/>
          <p:cNvSpPr txBox="1">
            <a:spLocks noChangeArrowheads="1"/>
          </p:cNvSpPr>
          <p:nvPr/>
        </p:nvSpPr>
        <p:spPr bwMode="auto">
          <a:xfrm>
            <a:off x="2286000" y="381000"/>
            <a:ext cx="3810000" cy="215900"/>
          </a:xfrm>
          <a:prstGeom prst="rect">
            <a:avLst/>
          </a:prstGeom>
          <a:noFill/>
          <a:ln w="9525">
            <a:noFill/>
            <a:miter lim="800000"/>
            <a:headEnd/>
            <a:tailEnd/>
          </a:ln>
        </p:spPr>
        <p:txBody>
          <a:bodyPr>
            <a:spAutoFit/>
          </a:bodyPr>
          <a:lstStyle/>
          <a:p>
            <a:pPr eaLnBrk="0" hangingPunct="0"/>
            <a:r>
              <a:rPr lang="pt-BR" sz="800">
                <a:solidFill>
                  <a:srgbClr val="000000"/>
                </a:solidFill>
              </a:rPr>
              <a:t>&lt;*s*o*u*r*c*e*&gt;*5*7*7*g*3*-*1*-*8*&lt;*/*s*o*u*r*c*e*&gt;</a:t>
            </a:r>
            <a:endParaRPr lang="en-US" sz="800" dirty="0">
              <a:solidFill>
                <a:srgbClr val="000000"/>
              </a:solidFill>
            </a:endParaRPr>
          </a:p>
        </p:txBody>
      </p:sp>
      <p:sp>
        <p:nvSpPr>
          <p:cNvPr id="26626" name="Rectangle 2"/>
          <p:cNvSpPr>
            <a:spLocks noGrp="1" noRot="1" noChangeAspect="1" noChangeArrowheads="1" noTextEdit="1"/>
          </p:cNvSpPr>
          <p:nvPr>
            <p:ph type="sldImg"/>
          </p:nvPr>
        </p:nvSpPr>
        <p:spPr>
          <a:xfrm>
            <a:off x="877888" y="733425"/>
            <a:ext cx="4892675" cy="3670300"/>
          </a:xfrm>
          <a:ln/>
        </p:spPr>
      </p:sp>
      <p:sp>
        <p:nvSpPr>
          <p:cNvPr id="26627" name="Rectangle 3"/>
          <p:cNvSpPr>
            <a:spLocks noGrp="1" noChangeArrowheads="1"/>
          </p:cNvSpPr>
          <p:nvPr>
            <p:ph type="body" idx="1"/>
          </p:nvPr>
        </p:nvSpPr>
        <p:spPr>
          <a:xfrm>
            <a:off x="228600" y="3962400"/>
            <a:ext cx="6488113" cy="996950"/>
          </a:xfrm>
          <a:ln/>
        </p:spPr>
        <p:txBody>
          <a:bodyPr/>
          <a:lstStyle/>
          <a:p>
            <a:pPr eaLnBrk="1" hangingPunct="1"/>
            <a:r>
              <a:rPr lang="en-US"/>
              <a:t>Jogger text: Advantages of SOA</a:t>
            </a:r>
          </a:p>
          <a:p>
            <a:pPr eaLnBrk="1" hangingPunct="1"/>
            <a:r>
              <a:rPr lang="en-US"/>
              <a:t>Direction: Left</a:t>
            </a:r>
          </a:p>
          <a:p>
            <a:pPr eaLnBrk="1" hangingPunct="1"/>
            <a:r>
              <a:rPr lang="en-US"/>
              <a:t>Instructor notes:</a:t>
            </a:r>
          </a:p>
          <a:p>
            <a:pPr eaLnBrk="1" hangingPunct="1"/>
            <a:r>
              <a:rPr lang="en-US"/>
              <a:t>Just summarizing the points of the previous slides using jargon terms</a:t>
            </a:r>
            <a:endParaRPr lang="en-US" dirty="0"/>
          </a:p>
        </p:txBody>
      </p:sp>
    </p:spTree>
    <p:extLst>
      <p:ext uri="{BB962C8B-B14F-4D97-AF65-F5344CB8AC3E}">
        <p14:creationId xmlns:p14="http://schemas.microsoft.com/office/powerpoint/2010/main" val="1303130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2721" name="TextBox 5" hidden="1"/>
          <p:cNvSpPr txBox="1">
            <a:spLocks noChangeArrowheads="1"/>
          </p:cNvSpPr>
          <p:nvPr/>
        </p:nvSpPr>
        <p:spPr bwMode="auto">
          <a:xfrm>
            <a:off x="2286000" y="381000"/>
            <a:ext cx="3810000" cy="215900"/>
          </a:xfrm>
          <a:prstGeom prst="rect">
            <a:avLst/>
          </a:prstGeom>
          <a:noFill/>
          <a:ln w="9525">
            <a:noFill/>
            <a:miter lim="800000"/>
            <a:headEnd/>
            <a:tailEnd/>
          </a:ln>
        </p:spPr>
        <p:txBody>
          <a:bodyPr>
            <a:spAutoFit/>
          </a:bodyPr>
          <a:lstStyle/>
          <a:p>
            <a:pPr eaLnBrk="0" hangingPunct="0"/>
            <a:r>
              <a:rPr lang="pt-BR" sz="800">
                <a:solidFill>
                  <a:srgbClr val="000000"/>
                </a:solidFill>
              </a:rPr>
              <a:t>&lt;*s*o*u*r*c*e*&gt;*5*7*7*g*3*-*7*-*1*5*&lt;*/*s*o*u*r*c*e*&gt;</a:t>
            </a:r>
            <a:endParaRPr lang="en-US" sz="800" dirty="0">
              <a:solidFill>
                <a:srgbClr val="000000"/>
              </a:solidFill>
            </a:endParaRPr>
          </a:p>
        </p:txBody>
      </p:sp>
      <p:sp>
        <p:nvSpPr>
          <p:cNvPr id="1182722" name="Rectangle 2"/>
          <p:cNvSpPr>
            <a:spLocks noGrp="1" noRot="1" noChangeAspect="1" noChangeArrowheads="1" noTextEdit="1"/>
          </p:cNvSpPr>
          <p:nvPr>
            <p:ph type="sldImg"/>
          </p:nvPr>
        </p:nvSpPr>
        <p:spPr>
          <a:xfrm>
            <a:off x="877888" y="733425"/>
            <a:ext cx="4892675" cy="3670300"/>
          </a:xfrm>
          <a:ln/>
        </p:spPr>
      </p:sp>
      <p:sp>
        <p:nvSpPr>
          <p:cNvPr id="1182723" name="Rectangle 3"/>
          <p:cNvSpPr>
            <a:spLocks noGrp="1" noChangeArrowheads="1"/>
          </p:cNvSpPr>
          <p:nvPr>
            <p:ph type="body" idx="1"/>
          </p:nvPr>
        </p:nvSpPr>
        <p:spPr>
          <a:xfrm>
            <a:off x="228600" y="3962400"/>
            <a:ext cx="6488113" cy="1236663"/>
          </a:xfrm>
          <a:ln/>
        </p:spPr>
        <p:txBody>
          <a:bodyPr/>
          <a:lstStyle/>
          <a:p>
            <a:pPr eaLnBrk="1" hangingPunct="1"/>
            <a:r>
              <a:rPr lang="en-US"/>
              <a:t>Jogger text: REST</a:t>
            </a:r>
          </a:p>
          <a:p>
            <a:pPr eaLnBrk="1" hangingPunct="1"/>
            <a:r>
              <a:rPr lang="en-US"/>
              <a:t>Direction: Left</a:t>
            </a:r>
          </a:p>
          <a:p>
            <a:pPr eaLnBrk="1" hangingPunct="1"/>
            <a:r>
              <a:rPr lang="en-US"/>
              <a:t>Instructor notes:</a:t>
            </a:r>
          </a:p>
          <a:p>
            <a:pPr eaLnBrk="1" hangingPunct="1"/>
            <a:r>
              <a:rPr lang="en-US"/>
              <a:t>MySQL, Oracle, etc. all support Xpath.  Lead in to next slide.</a:t>
            </a:r>
          </a:p>
          <a:p>
            <a:pPr eaLnBrk="1" hangingPunct="1"/>
            <a:endParaRPr lang="en-US" dirty="0"/>
          </a:p>
        </p:txBody>
      </p:sp>
    </p:spTree>
    <p:extLst>
      <p:ext uri="{BB962C8B-B14F-4D97-AF65-F5344CB8AC3E}">
        <p14:creationId xmlns:p14="http://schemas.microsoft.com/office/powerpoint/2010/main" val="1574843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hidden="1"/>
          <p:cNvSpPr txBox="1"/>
          <p:nvPr/>
        </p:nvSpPr>
        <p:spPr>
          <a:xfrm>
            <a:off x="2286000" y="381000"/>
            <a:ext cx="3810000" cy="215444"/>
          </a:xfrm>
          <a:prstGeom prst="rect">
            <a:avLst/>
          </a:prstGeom>
          <a:noFill/>
        </p:spPr>
        <p:txBody>
          <a:bodyPr vert="horz" rtlCol="0">
            <a:spAutoFit/>
          </a:bodyPr>
          <a:lstStyle/>
          <a:p>
            <a:r>
              <a:rPr lang="pt-BR" sz="800" dirty="0">
                <a:solidFill>
                  <a:srgbClr val="000000"/>
                </a:solidFill>
                <a:latin typeface="Arial"/>
              </a:rPr>
              <a:t>&lt;*s*o*u*r*c*e*&gt;*2*3*1*9*a*1*-*3*-*2*8*&lt;*/*s*o*u*r*c*e*&gt;</a:t>
            </a:r>
            <a:endParaRPr lang="en-US" sz="800" dirty="0">
              <a:solidFill>
                <a:srgbClr val="000000"/>
              </a:solidFill>
              <a:latin typeface="Arial"/>
            </a:endParaRPr>
          </a:p>
        </p:txBody>
      </p:sp>
      <p:sp>
        <p:nvSpPr>
          <p:cNvPr id="1386498" name="Rectangle 2"/>
          <p:cNvSpPr>
            <a:spLocks noGrp="1" noRot="1" noChangeAspect="1" noChangeArrowheads="1" noTextEdit="1"/>
          </p:cNvSpPr>
          <p:nvPr>
            <p:ph type="sldImg"/>
          </p:nvPr>
        </p:nvSpPr>
        <p:spPr>
          <a:xfrm>
            <a:off x="877888" y="733425"/>
            <a:ext cx="4892675" cy="3670300"/>
          </a:xfrm>
          <a:ln/>
        </p:spPr>
      </p:sp>
      <p:sp>
        <p:nvSpPr>
          <p:cNvPr id="1386499" name="Rectangle 3"/>
          <p:cNvSpPr>
            <a:spLocks noGrp="1" noChangeArrowheads="1"/>
          </p:cNvSpPr>
          <p:nvPr>
            <p:ph type="body" idx="1"/>
          </p:nvPr>
        </p:nvSpPr>
        <p:spPr>
          <a:xfrm>
            <a:off x="238974" y="4097914"/>
            <a:ext cx="6782492" cy="1721090"/>
          </a:xfrm>
        </p:spPr>
        <p:txBody>
          <a:bodyPr>
            <a:sp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t>Jogger text: Creating a JavaScript Object</a:t>
            </a:r>
          </a:p>
          <a:p>
            <a:pPr marL="0" marR="0" indent="0" algn="l" defTabSz="914400" rtl="0" eaLnBrk="1" fontAlgn="base" latinLnBrk="0" hangingPunct="1">
              <a:lnSpc>
                <a:spcPct val="100000"/>
              </a:lnSpc>
              <a:spcBef>
                <a:spcPct val="30000"/>
              </a:spcBef>
              <a:spcAft>
                <a:spcPct val="0"/>
              </a:spcAft>
              <a:buClrTx/>
              <a:buSzTx/>
              <a:buFontTx/>
              <a:buNone/>
              <a:tabLst/>
              <a:defRPr/>
            </a:pPr>
            <a:r>
              <a:rPr lang="en-US"/>
              <a:t>Direction: Right</a:t>
            </a:r>
          </a:p>
          <a:p>
            <a:pPr marL="0" marR="0" indent="0" algn="l" defTabSz="914400" rtl="0" eaLnBrk="1" fontAlgn="base" latinLnBrk="0" hangingPunct="1">
              <a:lnSpc>
                <a:spcPct val="100000"/>
              </a:lnSpc>
              <a:spcBef>
                <a:spcPct val="30000"/>
              </a:spcBef>
              <a:spcAft>
                <a:spcPct val="0"/>
              </a:spcAft>
              <a:buClrTx/>
              <a:buSzTx/>
              <a:buFontTx/>
              <a:buNone/>
              <a:tabLst/>
              <a:defRPr/>
            </a:pPr>
            <a:r>
              <a:rPr lang="en-US"/>
              <a:t>Instructor notes:What </a:t>
            </a:r>
            <a:r>
              <a:rPr lang="en-US" dirty="0"/>
              <a:t>would happen if</a:t>
            </a:r>
            <a:r>
              <a:rPr lang="en-US" baseline="0" dirty="0"/>
              <a:t> this was left off? It would look for a width and height on the global object</a:t>
            </a:r>
            <a:endParaRPr lang="en-US"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a:t>How many properties were created on the global object?</a:t>
            </a:r>
            <a:r>
              <a:rPr lang="en-US" baseline="0" dirty="0"/>
              <a:t> just 1, Box</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aseline="0"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a:t>In the getArea() method we could have used Box.width and Box.height instead of this.width and this.height</a:t>
            </a:r>
            <a:endParaRPr lang="en-US" dirty="0"/>
          </a:p>
        </p:txBody>
      </p:sp>
    </p:spTree>
    <p:extLst>
      <p:ext uri="{BB962C8B-B14F-4D97-AF65-F5344CB8AC3E}">
        <p14:creationId xmlns:p14="http://schemas.microsoft.com/office/powerpoint/2010/main" val="1407541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287338" indent="-287338">
              <a:buClr>
                <a:srgbClr val="DA2128"/>
              </a:buClr>
              <a:buFont typeface="Wingdings 3" pitchFamily="18" charset="2"/>
              <a:buChar char=""/>
              <a:defRPr/>
            </a:lvl1pPr>
            <a:lvl2pPr marL="509588" indent="-222250">
              <a:buClr>
                <a:srgbClr val="DA2128"/>
              </a:buClr>
              <a:buFont typeface="Arial" pitchFamily="34" charset="0"/>
              <a:buChar char="•"/>
              <a:defRPr/>
            </a:lvl2pPr>
            <a:lvl3pPr marL="744538" indent="-234950">
              <a:buClr>
                <a:srgbClr val="DA2128"/>
              </a:buClr>
              <a:defRPr/>
            </a:lvl3pPr>
            <a:lvl4pPr marL="287338" indent="-277813">
              <a:buClr>
                <a:srgbClr val="DA2128"/>
              </a:buClr>
              <a:buFont typeface="Webdings" pitchFamily="18" charset="2"/>
              <a:buChar char="s"/>
              <a:defRPr/>
            </a:lvl4pPr>
            <a:lvl5pPr marL="287338" indent="-287338">
              <a:buClr>
                <a:srgbClr val="DA2128"/>
              </a:buClr>
              <a:buFont typeface="Webdings" pitchFamily="18" charset="2"/>
              <a:buChar char="i"/>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0" y="0"/>
            <a:ext cx="9143999" cy="402336"/>
          </a:xfrm>
          <a:prstGeom prst="rect">
            <a:avLst/>
          </a:prstGeom>
          <a:effectLst/>
        </p:spPr>
        <p:txBody>
          <a:bodyPr/>
          <a:lstStyle>
            <a:lvl1pPr>
              <a:defRPr sz="2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4230202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endParaRPr lang="fr-FR" altLang="fr-FR" dirty="0"/>
          </a:p>
          <a:p>
            <a:pPr eaLnBrk="1" hangingPunct="1"/>
            <a:r>
              <a:rPr lang="fr-FR" altLang="fr-FR" dirty="0" err="1"/>
              <a:t>Flask</a:t>
            </a:r>
            <a:endParaRPr lang="fr-FR" altLang="fr-FR" dirty="0"/>
          </a:p>
        </p:txBody>
      </p:sp>
      <p:pic>
        <p:nvPicPr>
          <p:cNvPr id="1028" name="Picture 4" descr="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7425" y="2132856"/>
            <a:ext cx="4629150" cy="13716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Web</a:t>
            </a:r>
          </a:p>
        </p:txBody>
      </p:sp>
      <p:sp>
        <p:nvSpPr>
          <p:cNvPr id="3" name="Espace réservé du contenu 2"/>
          <p:cNvSpPr>
            <a:spLocks noGrp="1"/>
          </p:cNvSpPr>
          <p:nvPr>
            <p:ph idx="1"/>
          </p:nvPr>
        </p:nvSpPr>
        <p:spPr/>
        <p:txBody>
          <a:bodyPr/>
          <a:lstStyle/>
          <a:p>
            <a:r>
              <a:rPr lang="fr-FR" dirty="0"/>
              <a:t>WWW</a:t>
            </a:r>
          </a:p>
          <a:p>
            <a:r>
              <a:rPr lang="fr-FR" dirty="0"/>
              <a:t>HTTP + HTML</a:t>
            </a:r>
          </a:p>
          <a:p>
            <a:r>
              <a:rPr lang="fr-FR" dirty="0"/>
              <a:t>Serveur Web + Client</a:t>
            </a:r>
          </a:p>
          <a:p>
            <a:r>
              <a:rPr lang="fr-FR" dirty="0"/>
              <a:t>Plusieurs modules Python savent faire du Web</a:t>
            </a:r>
          </a:p>
          <a:p>
            <a:pPr lvl="1"/>
            <a:r>
              <a:rPr lang="fr-FR" dirty="0" err="1"/>
              <a:t>Flask</a:t>
            </a:r>
            <a:endParaRPr lang="fr-FR" dirty="0"/>
          </a:p>
          <a:p>
            <a:pPr lvl="1"/>
            <a:r>
              <a:rPr lang="fr-FR" dirty="0"/>
              <a:t>Django</a:t>
            </a:r>
          </a:p>
        </p:txBody>
      </p:sp>
    </p:spTree>
    <p:extLst>
      <p:ext uri="{BB962C8B-B14F-4D97-AF65-F5344CB8AC3E}">
        <p14:creationId xmlns:p14="http://schemas.microsoft.com/office/powerpoint/2010/main" val="2850296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AEB356-0B54-A621-DEBF-61B0DC7899B3}"/>
              </a:ext>
            </a:extLst>
          </p:cNvPr>
          <p:cNvSpPr>
            <a:spLocks noGrp="1"/>
          </p:cNvSpPr>
          <p:nvPr>
            <p:ph type="title"/>
          </p:nvPr>
        </p:nvSpPr>
        <p:spPr/>
        <p:txBody>
          <a:bodyPr/>
          <a:lstStyle/>
          <a:p>
            <a:r>
              <a:rPr lang="fr-FR" dirty="0"/>
              <a:t>Architecture micro services</a:t>
            </a:r>
          </a:p>
        </p:txBody>
      </p:sp>
      <p:sp>
        <p:nvSpPr>
          <p:cNvPr id="3" name="Espace réservé du contenu 2">
            <a:extLst>
              <a:ext uri="{FF2B5EF4-FFF2-40B4-BE49-F238E27FC236}">
                <a16:creationId xmlns:a16="http://schemas.microsoft.com/office/drawing/2014/main" id="{6687BD72-56A8-5CE6-3D8B-1E0A5CED2124}"/>
              </a:ext>
            </a:extLst>
          </p:cNvPr>
          <p:cNvSpPr>
            <a:spLocks noGrp="1"/>
          </p:cNvSpPr>
          <p:nvPr>
            <p:ph idx="1"/>
          </p:nvPr>
        </p:nvSpPr>
        <p:spPr/>
        <p:txBody>
          <a:bodyPr/>
          <a:lstStyle/>
          <a:p>
            <a:r>
              <a:rPr lang="fr-FR" dirty="0"/>
              <a:t>Chaque service est containerisé dans un container léger de type IP (HTTP ou TCP)</a:t>
            </a:r>
          </a:p>
          <a:p>
            <a:r>
              <a:rPr lang="fr-FR" dirty="0"/>
              <a:t>Flask + Docker</a:t>
            </a:r>
          </a:p>
          <a:p>
            <a:r>
              <a:rPr lang="fr-FR" dirty="0"/>
              <a:t>Chaque service est une Web API</a:t>
            </a:r>
          </a:p>
          <a:p>
            <a:pPr lvl="1"/>
            <a:r>
              <a:rPr lang="fr-FR" dirty="0"/>
              <a:t>Essentiellement non exposé en WAN</a:t>
            </a:r>
          </a:p>
          <a:p>
            <a:pPr lvl="1"/>
            <a:r>
              <a:rPr lang="fr-FR" dirty="0"/>
              <a:t>Peut être exposé sur 80 &amp; 443 : SSL + NGINX</a:t>
            </a:r>
          </a:p>
        </p:txBody>
      </p:sp>
    </p:spTree>
    <p:extLst>
      <p:ext uri="{BB962C8B-B14F-4D97-AF65-F5344CB8AC3E}">
        <p14:creationId xmlns:p14="http://schemas.microsoft.com/office/powerpoint/2010/main" val="2425115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186" name="Rectangle 2"/>
          <p:cNvSpPr>
            <a:spLocks noGrp="1" noChangeArrowheads="1"/>
          </p:cNvSpPr>
          <p:nvPr>
            <p:ph type="title"/>
          </p:nvPr>
        </p:nvSpPr>
        <p:spPr/>
        <p:txBody>
          <a:bodyPr>
            <a:normAutofit/>
          </a:bodyPr>
          <a:lstStyle/>
          <a:p>
            <a:pPr>
              <a:defRPr/>
            </a:pPr>
            <a:r>
              <a:rPr lang="fr-FR" dirty="0"/>
              <a:t>Qu’est-ce qu’une architecture orientée services ?</a:t>
            </a:r>
          </a:p>
        </p:txBody>
      </p:sp>
      <p:sp>
        <p:nvSpPr>
          <p:cNvPr id="17410" name="Rectangle 3"/>
          <p:cNvSpPr>
            <a:spLocks noGrp="1" noChangeArrowheads="1"/>
          </p:cNvSpPr>
          <p:nvPr>
            <p:ph idx="1"/>
          </p:nvPr>
        </p:nvSpPr>
        <p:spPr>
          <a:xfrm>
            <a:off x="279400" y="1312863"/>
            <a:ext cx="8599488" cy="1554162"/>
          </a:xfrm>
        </p:spPr>
        <p:txBody>
          <a:bodyPr>
            <a:normAutofit lnSpcReduction="10000"/>
          </a:bodyPr>
          <a:lstStyle/>
          <a:p>
            <a:r>
              <a:rPr lang="fr-FR" sz="1800" dirty="0"/>
              <a:t>Une architecture orientée services se compose de services faiblement couplés et interopérables</a:t>
            </a:r>
          </a:p>
          <a:p>
            <a:pPr lvl="1"/>
            <a:r>
              <a:rPr lang="fr-FR" sz="1800" dirty="0"/>
              <a:t>Services : chaque composant de l’architecture est dédié à une tâche</a:t>
            </a:r>
          </a:p>
          <a:p>
            <a:pPr lvl="1"/>
            <a:r>
              <a:rPr lang="fr-FR" sz="1800" dirty="0"/>
              <a:t>Faiblement couplés : les services sont relativement indépendants</a:t>
            </a:r>
          </a:p>
          <a:p>
            <a:pPr lvl="1"/>
            <a:r>
              <a:rPr lang="fr-FR" sz="1800" dirty="0"/>
              <a:t>Interopérables : les services sont conformes à un standard</a:t>
            </a:r>
          </a:p>
        </p:txBody>
      </p:sp>
      <p:pic>
        <p:nvPicPr>
          <p:cNvPr id="17411" name="Picture 15"/>
          <p:cNvPicPr>
            <a:picLocks noChangeAspect="1" noChangeArrowheads="1"/>
          </p:cNvPicPr>
          <p:nvPr/>
        </p:nvPicPr>
        <p:blipFill>
          <a:blip r:embed="rId4" cstate="print"/>
          <a:srcRect/>
          <a:stretch>
            <a:fillRect/>
          </a:stretch>
        </p:blipFill>
        <p:spPr bwMode="auto">
          <a:xfrm>
            <a:off x="1462088" y="3000375"/>
            <a:ext cx="5829300" cy="31242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245607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Picture 14"/>
          <p:cNvPicPr>
            <a:picLocks noChangeAspect="1" noChangeArrowheads="1"/>
          </p:cNvPicPr>
          <p:nvPr/>
        </p:nvPicPr>
        <p:blipFill>
          <a:blip r:embed="rId4" cstate="print"/>
          <a:srcRect/>
          <a:stretch>
            <a:fillRect/>
          </a:stretch>
        </p:blipFill>
        <p:spPr bwMode="gray">
          <a:xfrm>
            <a:off x="1343025" y="3271838"/>
            <a:ext cx="6457950" cy="2409825"/>
          </a:xfrm>
          <a:prstGeom prst="rect">
            <a:avLst/>
          </a:prstGeom>
          <a:noFill/>
          <a:ln w="9525">
            <a:noFill/>
            <a:miter lim="800000"/>
            <a:headEnd/>
            <a:tailEnd/>
          </a:ln>
        </p:spPr>
      </p:pic>
      <p:sp>
        <p:nvSpPr>
          <p:cNvPr id="735234" name="Rectangle 2"/>
          <p:cNvSpPr>
            <a:spLocks noGrp="1" noChangeArrowheads="1"/>
          </p:cNvSpPr>
          <p:nvPr>
            <p:ph type="title"/>
          </p:nvPr>
        </p:nvSpPr>
        <p:spPr/>
        <p:txBody>
          <a:bodyPr/>
          <a:lstStyle/>
          <a:p>
            <a:pPr>
              <a:defRPr/>
            </a:pPr>
            <a:r>
              <a:rPr lang="fr-FR" dirty="0"/>
              <a:t>Couplage faible et interopérabilité</a:t>
            </a:r>
          </a:p>
        </p:txBody>
      </p:sp>
      <p:sp>
        <p:nvSpPr>
          <p:cNvPr id="19459" name="Rectangle 3"/>
          <p:cNvSpPr>
            <a:spLocks noGrp="1" noChangeArrowheads="1"/>
          </p:cNvSpPr>
          <p:nvPr>
            <p:ph idx="1"/>
          </p:nvPr>
        </p:nvSpPr>
        <p:spPr>
          <a:xfrm>
            <a:off x="279400" y="1270000"/>
            <a:ext cx="8599488" cy="1733550"/>
          </a:xfrm>
        </p:spPr>
        <p:txBody>
          <a:bodyPr/>
          <a:lstStyle/>
          <a:p>
            <a:r>
              <a:rPr lang="fr-FR" sz="1800" dirty="0"/>
              <a:t>Le couplage faible est obtenu </a:t>
            </a:r>
            <a:r>
              <a:rPr lang="fr-FR" sz="1800" i="1" dirty="0"/>
              <a:t>via </a:t>
            </a:r>
            <a:r>
              <a:rPr lang="fr-FR" sz="1800" dirty="0"/>
              <a:t>l’emploi d’interfaces bien définies</a:t>
            </a:r>
          </a:p>
          <a:p>
            <a:pPr lvl="1"/>
            <a:r>
              <a:rPr lang="fr-FR" sz="1800" dirty="0"/>
              <a:t>Les changements d’implémentation d’un service n’affectent pas ses clients</a:t>
            </a:r>
          </a:p>
          <a:p>
            <a:pPr lvl="1"/>
            <a:r>
              <a:rPr lang="fr-FR" sz="1800" dirty="0"/>
              <a:t>Services et clients peuvent être développés indépendamment</a:t>
            </a:r>
          </a:p>
          <a:p>
            <a:r>
              <a:rPr lang="fr-FR" sz="1800" dirty="0"/>
              <a:t>L’interface forme le contrat de service </a:t>
            </a:r>
          </a:p>
          <a:p>
            <a:pPr lvl="1">
              <a:buFont typeface="Arial" charset="0"/>
              <a:buNone/>
            </a:pPr>
            <a:r>
              <a:rPr lang="fr-FR" sz="1800" dirty="0"/>
              <a:t>	Si l’interface est modifiée, le code du client échoue</a:t>
            </a:r>
          </a:p>
        </p:txBody>
      </p:sp>
      <p:sp>
        <p:nvSpPr>
          <p:cNvPr id="19460" name="AutoShape 7"/>
          <p:cNvSpPr>
            <a:spLocks noChangeArrowheads="1"/>
          </p:cNvSpPr>
          <p:nvPr/>
        </p:nvSpPr>
        <p:spPr bwMode="gray">
          <a:xfrm>
            <a:off x="7237413" y="2744788"/>
            <a:ext cx="1662112" cy="785812"/>
          </a:xfrm>
          <a:prstGeom prst="wedgeRectCallout">
            <a:avLst>
              <a:gd name="adj1" fmla="val -85384"/>
              <a:gd name="adj2" fmla="val 59412"/>
            </a:avLst>
          </a:prstGeom>
          <a:solidFill>
            <a:srgbClr val="D5EAFF"/>
          </a:solidFill>
          <a:ln w="12700">
            <a:solidFill>
              <a:schemeClr val="tx1"/>
            </a:solidFill>
            <a:miter lim="800000"/>
            <a:headEnd/>
            <a:tailEnd/>
          </a:ln>
        </p:spPr>
        <p:txBody>
          <a:bodyPr/>
          <a:lstStyle/>
          <a:p>
            <a:pPr algn="ctr" eaLnBrk="0" hangingPunct="0"/>
            <a:r>
              <a:rPr lang="fr-FR" sz="1600" dirty="0"/>
              <a:t>Interface bien définie  (ne doit pas changer)</a:t>
            </a:r>
          </a:p>
        </p:txBody>
      </p:sp>
      <p:sp>
        <p:nvSpPr>
          <p:cNvPr id="19461" name="AutoShape 8"/>
          <p:cNvSpPr>
            <a:spLocks noChangeArrowheads="1"/>
          </p:cNvSpPr>
          <p:nvPr/>
        </p:nvSpPr>
        <p:spPr bwMode="gray">
          <a:xfrm>
            <a:off x="4778375" y="5465763"/>
            <a:ext cx="2714625" cy="485775"/>
          </a:xfrm>
          <a:prstGeom prst="wedgeRectCallout">
            <a:avLst>
              <a:gd name="adj1" fmla="val 21815"/>
              <a:gd name="adj2" fmla="val -135296"/>
            </a:avLst>
          </a:prstGeom>
          <a:solidFill>
            <a:srgbClr val="D5EAFF"/>
          </a:solidFill>
          <a:ln w="12700">
            <a:solidFill>
              <a:schemeClr val="tx1"/>
            </a:solidFill>
            <a:miter lim="800000"/>
            <a:headEnd/>
            <a:tailEnd/>
          </a:ln>
        </p:spPr>
        <p:txBody>
          <a:bodyPr/>
          <a:lstStyle/>
          <a:p>
            <a:pPr algn="ctr" eaLnBrk="0" hangingPunct="0"/>
            <a:r>
              <a:rPr lang="fr-FR" sz="1400" dirty="0"/>
              <a:t>Les clients ne sont pas affectés si l’implémentation est modifiée</a:t>
            </a:r>
          </a:p>
        </p:txBody>
      </p:sp>
      <p:sp>
        <p:nvSpPr>
          <p:cNvPr id="19462" name="AutoShape 9"/>
          <p:cNvSpPr>
            <a:spLocks noChangeArrowheads="1"/>
          </p:cNvSpPr>
          <p:nvPr/>
        </p:nvSpPr>
        <p:spPr bwMode="gray">
          <a:xfrm>
            <a:off x="1439863" y="5843588"/>
            <a:ext cx="2146300" cy="485775"/>
          </a:xfrm>
          <a:prstGeom prst="wedgeRectCallout">
            <a:avLst>
              <a:gd name="adj1" fmla="val 5324"/>
              <a:gd name="adj2" fmla="val -103593"/>
            </a:avLst>
          </a:prstGeom>
          <a:solidFill>
            <a:srgbClr val="D5EAFF"/>
          </a:solidFill>
          <a:ln w="12700">
            <a:solidFill>
              <a:schemeClr val="tx1"/>
            </a:solidFill>
            <a:miter lim="800000"/>
            <a:headEnd/>
            <a:tailEnd/>
          </a:ln>
        </p:spPr>
        <p:txBody>
          <a:bodyPr/>
          <a:lstStyle/>
          <a:p>
            <a:pPr algn="ctr" eaLnBrk="0" hangingPunct="0"/>
            <a:r>
              <a:rPr lang="fr-FR" sz="1600" dirty="0"/>
              <a:t>Les clients  ne sont pas interdépendants</a:t>
            </a:r>
          </a:p>
        </p:txBody>
      </p:sp>
      <p:sp>
        <p:nvSpPr>
          <p:cNvPr id="19463" name="AutoShape 12"/>
          <p:cNvSpPr>
            <a:spLocks noChangeArrowheads="1"/>
          </p:cNvSpPr>
          <p:nvPr/>
        </p:nvSpPr>
        <p:spPr bwMode="gray">
          <a:xfrm>
            <a:off x="3743325" y="3114675"/>
            <a:ext cx="1739900" cy="485775"/>
          </a:xfrm>
          <a:prstGeom prst="wedgeRectCallout">
            <a:avLst>
              <a:gd name="adj1" fmla="val 24037"/>
              <a:gd name="adj2" fmla="val 175815"/>
            </a:avLst>
          </a:prstGeom>
          <a:solidFill>
            <a:srgbClr val="D5EAFF"/>
          </a:solidFill>
          <a:ln w="12700">
            <a:solidFill>
              <a:schemeClr val="tx1"/>
            </a:solidFill>
            <a:miter lim="800000"/>
            <a:headEnd/>
            <a:tailEnd/>
          </a:ln>
        </p:spPr>
        <p:txBody>
          <a:bodyPr/>
          <a:lstStyle/>
          <a:p>
            <a:pPr algn="ctr" eaLnBrk="0" hangingPunct="0"/>
            <a:r>
              <a:rPr lang="fr-FR" sz="1400" dirty="0"/>
              <a:t>Les interfaces sont orientées services</a:t>
            </a:r>
          </a:p>
        </p:txBody>
      </p:sp>
      <p:sp>
        <p:nvSpPr>
          <p:cNvPr id="19464" name="TextBox 13"/>
          <p:cNvSpPr txBox="1">
            <a:spLocks noChangeArrowheads="1"/>
          </p:cNvSpPr>
          <p:nvPr/>
        </p:nvSpPr>
        <p:spPr bwMode="gray">
          <a:xfrm>
            <a:off x="2613025" y="4348163"/>
            <a:ext cx="3414713" cy="246062"/>
          </a:xfrm>
          <a:prstGeom prst="rect">
            <a:avLst/>
          </a:prstGeom>
          <a:solidFill>
            <a:schemeClr val="tx2"/>
          </a:solidFill>
          <a:ln w="9525">
            <a:noFill/>
            <a:miter lim="800000"/>
            <a:headEnd/>
            <a:tailEnd/>
          </a:ln>
        </p:spPr>
        <p:txBody>
          <a:bodyPr>
            <a:spAutoFit/>
          </a:bodyPr>
          <a:lstStyle/>
          <a:p>
            <a:pPr algn="ctr" eaLnBrk="0" hangingPunct="0"/>
            <a:r>
              <a:rPr lang="fr-FR" sz="1000" dirty="0">
                <a:solidFill>
                  <a:schemeClr val="bg2"/>
                </a:solidFill>
              </a:rPr>
              <a:t>Amount getConvertedAmount (Amount from, Currency to)</a:t>
            </a:r>
          </a:p>
        </p:txBody>
      </p:sp>
      <p:sp>
        <p:nvSpPr>
          <p:cNvPr id="18" name="AutoShape 84"/>
          <p:cNvSpPr>
            <a:spLocks noChangeArrowheads="1"/>
          </p:cNvSpPr>
          <p:nvPr/>
        </p:nvSpPr>
        <p:spPr bwMode="black">
          <a:xfrm>
            <a:off x="511175" y="2674938"/>
            <a:ext cx="381000" cy="381000"/>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rgbClr val="CC0000"/>
          </a:solidFill>
          <a:ln w="12700">
            <a:solidFill>
              <a:srgbClr val="CC0000"/>
            </a:solidFill>
            <a:miter lim="800000"/>
            <a:headEnd/>
            <a:tailEnd/>
          </a:ln>
          <a:effectLst>
            <a:outerShdw dist="35921" dir="2700000" algn="ctr" rotWithShape="0">
              <a:schemeClr val="bg2">
                <a:alpha val="50000"/>
              </a:schemeClr>
            </a:outerShdw>
          </a:effectLst>
        </p:spPr>
        <p:txBody>
          <a:bodyPr wrap="none" anchor="ctr">
            <a:spAutoFit/>
          </a:bodyPr>
          <a:lstStyle/>
          <a:p>
            <a:pPr eaLnBrk="0" hangingPunct="0">
              <a:defRPr/>
            </a:pPr>
            <a:endParaRPr lang="en-US" dirty="0"/>
          </a:p>
        </p:txBody>
      </p:sp>
    </p:spTree>
    <p:custDataLst>
      <p:tags r:id="rId1"/>
    </p:custDataLst>
    <p:extLst>
      <p:ext uri="{BB962C8B-B14F-4D97-AF65-F5344CB8AC3E}">
        <p14:creationId xmlns:p14="http://schemas.microsoft.com/office/powerpoint/2010/main" val="218069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378" name="Rectangle 2"/>
          <p:cNvSpPr>
            <a:spLocks noGrp="1" noChangeArrowheads="1"/>
          </p:cNvSpPr>
          <p:nvPr>
            <p:ph type="title"/>
          </p:nvPr>
        </p:nvSpPr>
        <p:spPr/>
        <p:txBody>
          <a:bodyPr/>
          <a:lstStyle/>
          <a:p>
            <a:pPr>
              <a:defRPr/>
            </a:pPr>
            <a:r>
              <a:rPr lang="fr-FR" dirty="0"/>
              <a:t>Pourquoi l’interopérabilité ?</a:t>
            </a:r>
          </a:p>
        </p:txBody>
      </p:sp>
      <p:sp>
        <p:nvSpPr>
          <p:cNvPr id="23554" name="Rectangle 3"/>
          <p:cNvSpPr>
            <a:spLocks noGrp="1" noChangeArrowheads="1"/>
          </p:cNvSpPr>
          <p:nvPr>
            <p:ph idx="1"/>
          </p:nvPr>
        </p:nvSpPr>
        <p:spPr>
          <a:xfrm>
            <a:off x="279400" y="1312863"/>
            <a:ext cx="8599488" cy="3625850"/>
          </a:xfrm>
        </p:spPr>
        <p:txBody>
          <a:bodyPr/>
          <a:lstStyle/>
          <a:p>
            <a:r>
              <a:rPr lang="fr-FR" sz="1800" dirty="0"/>
              <a:t>Les services et les clients interopérables réduisent la duplication</a:t>
            </a:r>
          </a:p>
          <a:p>
            <a:pPr lvl="1"/>
            <a:r>
              <a:rPr lang="fr-FR" sz="1800" dirty="0"/>
              <a:t>Inutile de reconstruire la même fonctionnalité pour chaque nouveau langage ou chaque nouvelle plate-forme</a:t>
            </a:r>
          </a:p>
          <a:p>
            <a:pPr lvl="1"/>
            <a:r>
              <a:rPr lang="fr-FR" sz="1800" dirty="0"/>
              <a:t>Les coûts de développement et de maintenance sont réduits</a:t>
            </a:r>
          </a:p>
          <a:p>
            <a:r>
              <a:rPr lang="fr-FR" sz="1800" dirty="0"/>
              <a:t>On peut utiliser le même service depuis toutes les applications, sur toutes les plates-formes</a:t>
            </a:r>
          </a:p>
          <a:p>
            <a:pPr lvl="1"/>
            <a:r>
              <a:rPr lang="fr-FR" sz="1800" dirty="0"/>
              <a:t>L’usage du service est cohérent dans toute l’entreprise</a:t>
            </a:r>
          </a:p>
          <a:p>
            <a:pPr lvl="1"/>
            <a:r>
              <a:rPr lang="fr-FR" sz="1800" dirty="0"/>
              <a:t>Utile pour les règles métier qui changent fréquemment</a:t>
            </a:r>
          </a:p>
          <a:p>
            <a:r>
              <a:rPr lang="fr-FR" sz="1800" dirty="0"/>
              <a:t>La réutilisation a lieu au niveau de services entiers</a:t>
            </a:r>
          </a:p>
          <a:p>
            <a:pPr lvl="1"/>
            <a:r>
              <a:rPr lang="fr-FR" sz="1800" dirty="0"/>
              <a:t>Les bibliothèques de classes ne sont utiles que pour les applications écrites dans le même langage</a:t>
            </a:r>
          </a:p>
        </p:txBody>
      </p:sp>
    </p:spTree>
    <p:custDataLst>
      <p:tags r:id="rId1"/>
    </p:custDataLst>
    <p:extLst>
      <p:ext uri="{BB962C8B-B14F-4D97-AF65-F5344CB8AC3E}">
        <p14:creationId xmlns:p14="http://schemas.microsoft.com/office/powerpoint/2010/main" val="4180305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2"/>
          <p:cNvSpPr>
            <a:spLocks noGrp="1" noChangeArrowheads="1"/>
          </p:cNvSpPr>
          <p:nvPr>
            <p:ph type="title"/>
          </p:nvPr>
        </p:nvSpPr>
        <p:spPr/>
        <p:txBody>
          <a:bodyPr/>
          <a:lstStyle/>
          <a:p>
            <a:pPr>
              <a:defRPr/>
            </a:pPr>
            <a:r>
              <a:rPr lang="fr-FR" dirty="0"/>
              <a:t>Avantages de SOA</a:t>
            </a:r>
          </a:p>
        </p:txBody>
      </p:sp>
      <p:sp>
        <p:nvSpPr>
          <p:cNvPr id="25602" name="Rectangle 3"/>
          <p:cNvSpPr>
            <a:spLocks noGrp="1" noChangeArrowheads="1"/>
          </p:cNvSpPr>
          <p:nvPr>
            <p:ph idx="1"/>
          </p:nvPr>
        </p:nvSpPr>
        <p:spPr>
          <a:xfrm>
            <a:off x="279400" y="1312863"/>
            <a:ext cx="8599488" cy="4708525"/>
          </a:xfrm>
        </p:spPr>
        <p:txBody>
          <a:bodyPr>
            <a:normAutofit lnSpcReduction="10000"/>
          </a:bodyPr>
          <a:lstStyle/>
          <a:p>
            <a:r>
              <a:rPr lang="fr-FR" sz="1800" dirty="0"/>
              <a:t>SOA offre les avantages du couplage faible et de l’interopérabilité</a:t>
            </a:r>
          </a:p>
          <a:p>
            <a:pPr lvl="1"/>
            <a:r>
              <a:rPr lang="fr-FR" sz="1800" dirty="0"/>
              <a:t>Souplesse pour changer la topologie de l’architecture d’entreprise</a:t>
            </a:r>
          </a:p>
          <a:p>
            <a:pPr lvl="2"/>
            <a:r>
              <a:rPr lang="fr-FR" sz="1800" dirty="0"/>
              <a:t>Ajouter des serveurs si l’usage est plus important que prévu</a:t>
            </a:r>
          </a:p>
          <a:p>
            <a:pPr lvl="2"/>
            <a:r>
              <a:rPr lang="fr-FR" sz="1800" dirty="0"/>
              <a:t>Écrire des clients supplémentaires pour répondre à de nouveaux besoins</a:t>
            </a:r>
          </a:p>
          <a:p>
            <a:pPr lvl="1"/>
            <a:r>
              <a:rPr lang="fr-FR" sz="1800" dirty="0"/>
              <a:t>Réutilisation au niveau des services</a:t>
            </a:r>
          </a:p>
          <a:p>
            <a:pPr lvl="2"/>
            <a:r>
              <a:rPr lang="fr-FR" sz="1800" dirty="0"/>
              <a:t>Pas seulement au niveau des bibliothèques de classes</a:t>
            </a:r>
          </a:p>
          <a:p>
            <a:pPr lvl="2"/>
            <a:r>
              <a:rPr lang="fr-FR" sz="1800" dirty="0"/>
              <a:t>Réutilisation entre plates-formes et entre langages de programmation</a:t>
            </a:r>
          </a:p>
          <a:p>
            <a:pPr lvl="2"/>
            <a:r>
              <a:rPr lang="fr-FR" sz="1800" dirty="0"/>
              <a:t>Entraîne des économies de coûts</a:t>
            </a:r>
          </a:p>
          <a:p>
            <a:pPr lvl="1"/>
            <a:r>
              <a:rPr lang="fr-FR" sz="1800" dirty="0"/>
              <a:t>Oblige à une cohérence dans l’entreprise</a:t>
            </a:r>
          </a:p>
          <a:p>
            <a:pPr lvl="2"/>
            <a:r>
              <a:rPr lang="fr-FR" sz="1800" dirty="0"/>
              <a:t>Toutes les applications utilisent les mêmes règles métier si elles utilisent le même service</a:t>
            </a:r>
          </a:p>
          <a:p>
            <a:pPr lvl="1"/>
            <a:r>
              <a:rPr lang="fr-FR" sz="1800" dirty="0"/>
              <a:t>Il est facile de modifier les règles métier en fonction de nouvelles exigences</a:t>
            </a:r>
          </a:p>
          <a:p>
            <a:pPr lvl="2"/>
            <a:r>
              <a:rPr lang="fr-FR" sz="1800" dirty="0"/>
              <a:t>Il suffit de modifier une seule base de code</a:t>
            </a:r>
          </a:p>
          <a:p>
            <a:r>
              <a:rPr lang="fr-FR" sz="1800" dirty="0"/>
              <a:t>SOA offre souplesse, réutilisation, économies de coûts, cohérence</a:t>
            </a:r>
            <a:br>
              <a:rPr lang="fr-FR" sz="1800" dirty="0"/>
            </a:br>
            <a:r>
              <a:rPr lang="fr-FR" sz="1800" dirty="0"/>
              <a:t>et agilité</a:t>
            </a:r>
          </a:p>
        </p:txBody>
      </p:sp>
    </p:spTree>
    <p:custDataLst>
      <p:tags r:id="rId1"/>
    </p:custDataLst>
    <p:extLst>
      <p:ext uri="{BB962C8B-B14F-4D97-AF65-F5344CB8AC3E}">
        <p14:creationId xmlns:p14="http://schemas.microsoft.com/office/powerpoint/2010/main" val="505186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6754" name="Rectangle 2"/>
          <p:cNvSpPr>
            <a:spLocks noGrp="1" noChangeArrowheads="1"/>
          </p:cNvSpPr>
          <p:nvPr>
            <p:ph type="title"/>
          </p:nvPr>
        </p:nvSpPr>
        <p:spPr/>
        <p:txBody>
          <a:bodyPr/>
          <a:lstStyle/>
          <a:p>
            <a:pPr>
              <a:defRPr/>
            </a:pPr>
            <a:r>
              <a:rPr lang="fr-FR" dirty="0"/>
              <a:t>REST</a:t>
            </a:r>
          </a:p>
        </p:txBody>
      </p:sp>
      <p:sp>
        <p:nvSpPr>
          <p:cNvPr id="1181698" name="Rectangle 3"/>
          <p:cNvSpPr>
            <a:spLocks noGrp="1" noChangeArrowheads="1"/>
          </p:cNvSpPr>
          <p:nvPr>
            <p:ph idx="1"/>
          </p:nvPr>
        </p:nvSpPr>
        <p:spPr>
          <a:xfrm>
            <a:off x="252413" y="1271588"/>
            <a:ext cx="8599487" cy="4940300"/>
          </a:xfrm>
        </p:spPr>
        <p:txBody>
          <a:bodyPr/>
          <a:lstStyle/>
          <a:p>
            <a:r>
              <a:rPr lang="fr-FR" sz="1800" dirty="0"/>
              <a:t>REST (</a:t>
            </a:r>
            <a:r>
              <a:rPr lang="fr-FR" sz="1800" i="1" u="sng" dirty="0"/>
              <a:t>Re</a:t>
            </a:r>
            <a:r>
              <a:rPr lang="fr-FR" sz="1800" i="1" dirty="0"/>
              <a:t>presentational </a:t>
            </a:r>
            <a:r>
              <a:rPr lang="fr-FR" sz="1800" i="1" u="sng" dirty="0"/>
              <a:t>S</a:t>
            </a:r>
            <a:r>
              <a:rPr lang="fr-FR" sz="1800" i="1" dirty="0"/>
              <a:t>tate </a:t>
            </a:r>
            <a:r>
              <a:rPr lang="fr-FR" sz="1800" i="1" u="sng" dirty="0"/>
              <a:t>T</a:t>
            </a:r>
            <a:r>
              <a:rPr lang="fr-FR" sz="1800" i="1" dirty="0"/>
              <a:t>ransfer </a:t>
            </a:r>
            <a:r>
              <a:rPr lang="fr-FR" sz="1800" dirty="0"/>
              <a:t>) est un type</a:t>
            </a:r>
            <a:br>
              <a:rPr lang="fr-FR" sz="1800" dirty="0"/>
            </a:br>
            <a:r>
              <a:rPr lang="fr-FR" sz="1800" dirty="0"/>
              <a:t>d’architecture logicielle</a:t>
            </a:r>
          </a:p>
          <a:p>
            <a:pPr lvl="1"/>
            <a:r>
              <a:rPr lang="fr-FR" sz="1800" dirty="0"/>
              <a:t>Décrit des architectures distribuées constituées de services </a:t>
            </a:r>
            <a:br>
              <a:rPr lang="fr-FR" sz="1800" dirty="0"/>
            </a:br>
            <a:r>
              <a:rPr lang="fr-FR" sz="1800" dirty="0"/>
              <a:t>sans états</a:t>
            </a:r>
          </a:p>
          <a:p>
            <a:pPr lvl="1"/>
            <a:r>
              <a:rPr lang="fr-FR" sz="1800" dirty="0"/>
              <a:t>Forgé par Roy Fielding pour décrire l’architecture du World Wide Web</a:t>
            </a:r>
          </a:p>
          <a:p>
            <a:r>
              <a:rPr lang="fr-FR" sz="1800" dirty="0"/>
              <a:t>Dans les services Web SOAP/WSDL, toutes les opérations vont à l’URL du service est sont déterminées par le type du message reçu</a:t>
            </a:r>
          </a:p>
          <a:p>
            <a:r>
              <a:rPr lang="fr-FR" sz="1800" dirty="0"/>
              <a:t>Dans REST, chaque opération a une URL unique </a:t>
            </a:r>
          </a:p>
          <a:p>
            <a:pPr lvl="1"/>
            <a:r>
              <a:rPr lang="fr-FR" sz="1800" dirty="0"/>
              <a:t>Le  client envoie la requête HTTP a une « ressource » sur le serveur</a:t>
            </a:r>
          </a:p>
          <a:p>
            <a:pPr lvl="1"/>
            <a:r>
              <a:rPr lang="fr-FR" sz="1800" dirty="0"/>
              <a:t>Les données sont généralement envoyées et reçues par le serveur sous forme de messages XML ordinaires</a:t>
            </a:r>
          </a:p>
          <a:p>
            <a:pPr lvl="1"/>
            <a:r>
              <a:rPr lang="fr-FR" sz="1800" dirty="0"/>
              <a:t>REST est plus simple et moins formel que l’emploi de SOAP/WSDL</a:t>
            </a:r>
          </a:p>
          <a:p>
            <a:r>
              <a:rPr lang="fr-FR" sz="1800" dirty="0"/>
              <a:t>On peut utiliser l’API Provider côté serveur pour servir du XML ordinaire</a:t>
            </a:r>
          </a:p>
          <a:p>
            <a:pPr lvl="1"/>
            <a:r>
              <a:rPr lang="fr-FR" sz="1800" dirty="0"/>
              <a:t>Utile si le XML est stocké en colonne dans une base de données et que la base prend en charge les interrogations style XPath</a:t>
            </a:r>
            <a:endParaRPr lang="fr-FR" sz="1800" dirty="0">
              <a:latin typeface="Courier New" pitchFamily="49" charset="0"/>
              <a:cs typeface="Courier New" pitchFamily="49"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5475" name="Rectangle 3"/>
          <p:cNvSpPr>
            <a:spLocks noGrp="1" noChangeArrowheads="1"/>
          </p:cNvSpPr>
          <p:nvPr>
            <p:ph idx="1"/>
          </p:nvPr>
        </p:nvSpPr>
        <p:spPr>
          <a:xfrm>
            <a:off x="272255" y="1207513"/>
            <a:ext cx="8599488" cy="4160113"/>
          </a:xfrm>
          <a:noFill/>
          <a:ln/>
        </p:spPr>
        <p:txBody>
          <a:bodyPr/>
          <a:lstStyle/>
          <a:p>
            <a:r>
              <a:rPr lang="fr-FR" dirty="0"/>
              <a:t>JavaScript Object Notation</a:t>
            </a:r>
            <a:endParaRPr lang="fr-FR" noProof="0" dirty="0"/>
          </a:p>
          <a:p>
            <a:pPr lvl="2"/>
            <a:endParaRPr lang="fr-FR" noProof="0" dirty="0"/>
          </a:p>
          <a:p>
            <a:pPr lvl="2"/>
            <a:endParaRPr lang="fr-FR" noProof="0" dirty="0"/>
          </a:p>
          <a:p>
            <a:endParaRPr lang="fr-FR" noProof="0" dirty="0"/>
          </a:p>
          <a:p>
            <a:pPr lvl="2"/>
            <a:endParaRPr lang="fr-FR" noProof="0" dirty="0"/>
          </a:p>
          <a:p>
            <a:pPr lvl="2"/>
            <a:endParaRPr lang="fr-FR" noProof="0" dirty="0"/>
          </a:p>
          <a:p>
            <a:pPr marL="800100" lvl="2" indent="0">
              <a:buNone/>
            </a:pPr>
            <a:endParaRPr lang="fr-FR" noProof="0" dirty="0"/>
          </a:p>
          <a:p>
            <a:pPr lvl="2"/>
            <a:endParaRPr lang="fr-FR" noProof="0" dirty="0"/>
          </a:p>
          <a:p>
            <a:pPr lvl="2"/>
            <a:endParaRPr lang="fr-FR" noProof="0" dirty="0"/>
          </a:p>
          <a:p>
            <a:pPr lvl="2"/>
            <a:endParaRPr lang="fr-FR" noProof="0" dirty="0"/>
          </a:p>
          <a:p>
            <a:pPr marL="0" indent="0">
              <a:buNone/>
            </a:pPr>
            <a:endParaRPr lang="fr-FR" noProof="0" dirty="0"/>
          </a:p>
          <a:p>
            <a:pPr marL="0" indent="0">
              <a:buNone/>
            </a:pPr>
            <a:endParaRPr lang="fr-FR" dirty="0"/>
          </a:p>
        </p:txBody>
      </p:sp>
      <p:sp>
        <p:nvSpPr>
          <p:cNvPr id="1385474" name="Rectangle 2"/>
          <p:cNvSpPr>
            <a:spLocks noGrp="1" noChangeArrowheads="1"/>
          </p:cNvSpPr>
          <p:nvPr>
            <p:ph type="title"/>
          </p:nvPr>
        </p:nvSpPr>
        <p:spPr/>
        <p:txBody>
          <a:bodyPr/>
          <a:lstStyle/>
          <a:p>
            <a:r>
              <a:rPr lang="fr-FR" noProof="0" dirty="0"/>
              <a:t>JSON</a:t>
            </a:r>
          </a:p>
        </p:txBody>
      </p:sp>
      <p:sp>
        <p:nvSpPr>
          <p:cNvPr id="1385477" name="shape3"/>
          <p:cNvSpPr txBox="1">
            <a:spLocks noChangeArrowheads="1"/>
          </p:cNvSpPr>
          <p:nvPr/>
        </p:nvSpPr>
        <p:spPr bwMode="blackWhite">
          <a:xfrm>
            <a:off x="685456" y="2225246"/>
            <a:ext cx="6734175" cy="1754326"/>
          </a:xfrm>
          <a:prstGeom prst="rect">
            <a:avLst/>
          </a:prstGeom>
          <a:noFill/>
          <a:ln w="28575">
            <a:solidFill>
              <a:srgbClr val="8CC8FF"/>
            </a:solidFill>
            <a:miter lim="800000"/>
            <a:headEnd/>
            <a:tailEnd/>
          </a:ln>
          <a:effectLst/>
        </p:spPr>
        <p:txBody>
          <a:bodyPr>
            <a:spAutoFit/>
          </a:bodyPr>
          <a:lstStyle/>
          <a:p>
            <a:pPr algn="l"/>
            <a:r>
              <a:rPr lang="en-US" sz="1800" dirty="0">
                <a:latin typeface="Courier New" pitchFamily="49" charset="0"/>
              </a:rPr>
              <a:t>   </a:t>
            </a:r>
            <a:r>
              <a:rPr lang="en-US" sz="1800" dirty="0">
                <a:solidFill>
                  <a:schemeClr val="bg2"/>
                </a:solidFill>
                <a:latin typeface="Courier New" pitchFamily="49" charset="0"/>
              </a:rPr>
              <a:t>// Define the Box object</a:t>
            </a:r>
          </a:p>
          <a:p>
            <a:pPr algn="l"/>
            <a:r>
              <a:rPr lang="en-US" sz="1800" dirty="0">
                <a:solidFill>
                  <a:schemeClr val="bg2"/>
                </a:solidFill>
                <a:latin typeface="Courier New" pitchFamily="49" charset="0"/>
              </a:rPr>
              <a:t>   </a:t>
            </a:r>
            <a:r>
              <a:rPr lang="en-US" sz="1800" b="1" dirty="0">
                <a:solidFill>
                  <a:schemeClr val="bg2"/>
                </a:solidFill>
                <a:latin typeface="Courier New" pitchFamily="49" charset="0"/>
              </a:rPr>
              <a:t>var </a:t>
            </a:r>
            <a:r>
              <a:rPr lang="en-US" sz="1800" dirty="0">
                <a:solidFill>
                  <a:schemeClr val="bg2"/>
                </a:solidFill>
                <a:latin typeface="Courier New" pitchFamily="49" charset="0"/>
              </a:rPr>
              <a:t>Box = </a:t>
            </a:r>
            <a:r>
              <a:rPr lang="en-US" sz="1800" b="1" dirty="0">
                <a:solidFill>
                  <a:schemeClr val="bg2"/>
                </a:solidFill>
                <a:latin typeface="Courier New" pitchFamily="49" charset="0"/>
              </a:rPr>
              <a:t>{</a:t>
            </a:r>
          </a:p>
          <a:p>
            <a:pPr algn="l"/>
            <a:r>
              <a:rPr lang="en-US" sz="1800" b="1" dirty="0">
                <a:solidFill>
                  <a:schemeClr val="bg2"/>
                </a:solidFill>
                <a:latin typeface="Courier New" pitchFamily="49" charset="0"/>
              </a:rPr>
              <a:t>     "</a:t>
            </a:r>
            <a:r>
              <a:rPr lang="en-US" sz="1800" dirty="0">
                <a:solidFill>
                  <a:schemeClr val="bg2"/>
                </a:solidFill>
                <a:latin typeface="Courier New" pitchFamily="49" charset="0"/>
              </a:rPr>
              <a:t>width": 3,</a:t>
            </a:r>
          </a:p>
          <a:p>
            <a:pPr algn="l"/>
            <a:r>
              <a:rPr lang="en-US" sz="1800" b="1" dirty="0">
                <a:solidFill>
                  <a:schemeClr val="bg2"/>
                </a:solidFill>
                <a:latin typeface="Courier New" pitchFamily="49" charset="0"/>
              </a:rPr>
              <a:t>     "</a:t>
            </a:r>
            <a:r>
              <a:rPr lang="en-US" sz="1800" dirty="0">
                <a:solidFill>
                  <a:schemeClr val="bg2"/>
                </a:solidFill>
                <a:latin typeface="Courier New" pitchFamily="49" charset="0"/>
              </a:rPr>
              <a:t>height": 5,</a:t>
            </a:r>
          </a:p>
          <a:p>
            <a:pPr algn="l"/>
            <a:r>
              <a:rPr lang="en-US" sz="1800" dirty="0">
                <a:solidFill>
                  <a:schemeClr val="bg2"/>
                </a:solidFill>
                <a:latin typeface="Courier New" pitchFamily="49" charset="0"/>
              </a:rPr>
              <a:t>     "units": "cm",</a:t>
            </a:r>
          </a:p>
          <a:p>
            <a:pPr algn="l"/>
            <a:r>
              <a:rPr lang="en-US" sz="1800" b="1" dirty="0">
                <a:solidFill>
                  <a:schemeClr val="bg2"/>
                </a:solidFill>
                <a:latin typeface="Courier New" pitchFamily="49" charset="0"/>
              </a:rPr>
              <a:t>   }</a:t>
            </a:r>
            <a:r>
              <a:rPr lang="en-US" sz="1800" dirty="0">
                <a:solidFill>
                  <a:schemeClr val="bg2"/>
                </a:solidFill>
                <a:latin typeface="Courier New" pitchFamily="49" charset="0"/>
              </a:rPr>
              <a:t>;</a:t>
            </a:r>
          </a:p>
        </p:txBody>
      </p:sp>
    </p:spTree>
    <p:custDataLst>
      <p:tags r:id="rId1"/>
    </p:custDataLst>
    <p:extLst>
      <p:ext uri="{BB962C8B-B14F-4D97-AF65-F5344CB8AC3E}">
        <p14:creationId xmlns:p14="http://schemas.microsoft.com/office/powerpoint/2010/main" val="2295125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dirty="0" err="1"/>
              <a:t>Flask</a:t>
            </a:r>
            <a:endParaRPr lang="fr-FR" dirty="0"/>
          </a:p>
          <a:p>
            <a:r>
              <a:rPr lang="fr-FR" dirty="0" err="1"/>
              <a:t>Microframework</a:t>
            </a:r>
            <a:r>
              <a:rPr lang="fr-FR" dirty="0"/>
              <a:t> Web</a:t>
            </a:r>
          </a:p>
          <a:p>
            <a:r>
              <a:rPr lang="fr-FR" dirty="0"/>
              <a:t>Très simple</a:t>
            </a:r>
          </a:p>
          <a:p>
            <a:pPr lvl="1"/>
            <a:r>
              <a:rPr lang="fr-FR" dirty="0"/>
              <a:t>Contient un container Web</a:t>
            </a:r>
          </a:p>
          <a:p>
            <a:r>
              <a:rPr lang="fr-FR" dirty="0"/>
              <a:t>PIP </a:t>
            </a:r>
            <a:r>
              <a:rPr lang="fr-FR" dirty="0" err="1"/>
              <a:t>install</a:t>
            </a:r>
            <a:r>
              <a:rPr lang="fr-FR" dirty="0"/>
              <a:t> </a:t>
            </a:r>
            <a:r>
              <a:rPr lang="fr-FR" dirty="0" err="1"/>
              <a:t>Flask</a:t>
            </a:r>
            <a:endParaRPr lang="fr-FR" dirty="0"/>
          </a:p>
          <a:p>
            <a:r>
              <a:rPr lang="fr-FR" dirty="0"/>
              <a:t>http://localhost:5000</a:t>
            </a:r>
          </a:p>
          <a:p>
            <a:endParaRPr lang="fr-FR" dirty="0"/>
          </a:p>
        </p:txBody>
      </p:sp>
      <p:pic>
        <p:nvPicPr>
          <p:cNvPr id="1026" name="Picture 2" descr="http://flask.pocoo.org/static/logo/flask.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59832" y="31638"/>
            <a:ext cx="2857500" cy="1118235"/>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nvPicPr>
        <p:blipFill>
          <a:blip r:embed="rId3"/>
          <a:stretch>
            <a:fillRect/>
          </a:stretch>
        </p:blipFill>
        <p:spPr>
          <a:xfrm>
            <a:off x="4116522" y="3645024"/>
            <a:ext cx="3601620" cy="2808312"/>
          </a:xfrm>
          <a:prstGeom prst="rect">
            <a:avLst/>
          </a:prstGeom>
        </p:spPr>
      </p:pic>
    </p:spTree>
    <p:extLst>
      <p:ext uri="{BB962C8B-B14F-4D97-AF65-F5344CB8AC3E}">
        <p14:creationId xmlns:p14="http://schemas.microsoft.com/office/powerpoint/2010/main" val="946232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Features</a:t>
            </a:r>
            <a:endParaRPr lang="fr-FR" dirty="0"/>
          </a:p>
        </p:txBody>
      </p:sp>
      <p:sp>
        <p:nvSpPr>
          <p:cNvPr id="3" name="Espace réservé du contenu 2"/>
          <p:cNvSpPr>
            <a:spLocks noGrp="1"/>
          </p:cNvSpPr>
          <p:nvPr>
            <p:ph idx="1"/>
          </p:nvPr>
        </p:nvSpPr>
        <p:spPr/>
        <p:txBody>
          <a:bodyPr/>
          <a:lstStyle/>
          <a:p>
            <a:r>
              <a:rPr lang="fr-FR" dirty="0"/>
              <a:t>Debugger spécialisé</a:t>
            </a:r>
          </a:p>
          <a:p>
            <a:r>
              <a:rPr lang="fr-FR" dirty="0"/>
              <a:t>Tests unitaires spécialisés</a:t>
            </a:r>
          </a:p>
          <a:p>
            <a:r>
              <a:rPr lang="fr-FR" dirty="0"/>
              <a:t>API REST</a:t>
            </a:r>
          </a:p>
          <a:p>
            <a:endParaRPr lang="fr-FR" dirty="0"/>
          </a:p>
        </p:txBody>
      </p:sp>
    </p:spTree>
    <p:extLst>
      <p:ext uri="{BB962C8B-B14F-4D97-AF65-F5344CB8AC3E}">
        <p14:creationId xmlns:p14="http://schemas.microsoft.com/office/powerpoint/2010/main" val="4002298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Routes</a:t>
            </a:r>
          </a:p>
        </p:txBody>
      </p:sp>
      <p:sp>
        <p:nvSpPr>
          <p:cNvPr id="3" name="Espace réservé du contenu 2"/>
          <p:cNvSpPr>
            <a:spLocks noGrp="1"/>
          </p:cNvSpPr>
          <p:nvPr>
            <p:ph idx="1"/>
          </p:nvPr>
        </p:nvSpPr>
        <p:spPr/>
        <p:txBody>
          <a:bodyPr/>
          <a:lstStyle/>
          <a:p>
            <a:r>
              <a:rPr lang="fr-FR" dirty="0"/>
              <a:t>Permet de définir des routes</a:t>
            </a:r>
          </a:p>
        </p:txBody>
      </p:sp>
      <p:pic>
        <p:nvPicPr>
          <p:cNvPr id="4" name="Image 3"/>
          <p:cNvPicPr>
            <a:picLocks noChangeAspect="1"/>
          </p:cNvPicPr>
          <p:nvPr/>
        </p:nvPicPr>
        <p:blipFill>
          <a:blip r:embed="rId2"/>
          <a:stretch>
            <a:fillRect/>
          </a:stretch>
        </p:blipFill>
        <p:spPr>
          <a:xfrm>
            <a:off x="611560" y="2004574"/>
            <a:ext cx="3672408" cy="2193906"/>
          </a:xfrm>
          <a:prstGeom prst="rect">
            <a:avLst/>
          </a:prstGeom>
        </p:spPr>
      </p:pic>
      <p:pic>
        <p:nvPicPr>
          <p:cNvPr id="5" name="Image 4"/>
          <p:cNvPicPr>
            <a:picLocks noChangeAspect="1"/>
          </p:cNvPicPr>
          <p:nvPr/>
        </p:nvPicPr>
        <p:blipFill>
          <a:blip r:embed="rId3"/>
          <a:stretch>
            <a:fillRect/>
          </a:stretch>
        </p:blipFill>
        <p:spPr>
          <a:xfrm>
            <a:off x="3025174" y="4326763"/>
            <a:ext cx="6119738" cy="2095152"/>
          </a:xfrm>
          <a:prstGeom prst="rect">
            <a:avLst/>
          </a:prstGeom>
        </p:spPr>
      </p:pic>
    </p:spTree>
    <p:extLst>
      <p:ext uri="{BB962C8B-B14F-4D97-AF65-F5344CB8AC3E}">
        <p14:creationId xmlns:p14="http://schemas.microsoft.com/office/powerpoint/2010/main" val="2679562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HTTP</a:t>
            </a:r>
          </a:p>
        </p:txBody>
      </p:sp>
      <p:sp>
        <p:nvSpPr>
          <p:cNvPr id="3" name="Espace réservé du contenu 2"/>
          <p:cNvSpPr>
            <a:spLocks noGrp="1"/>
          </p:cNvSpPr>
          <p:nvPr>
            <p:ph idx="1"/>
          </p:nvPr>
        </p:nvSpPr>
        <p:spPr/>
        <p:txBody>
          <a:bodyPr/>
          <a:lstStyle/>
          <a:p>
            <a:r>
              <a:rPr lang="fr-FR" dirty="0" err="1"/>
              <a:t>HTTPLib</a:t>
            </a:r>
            <a:r>
              <a:rPr lang="fr-FR" dirty="0"/>
              <a:t> permet d’effectuer des requêtes HTTP</a:t>
            </a:r>
          </a:p>
          <a:p>
            <a:r>
              <a:rPr lang="fr-FR" dirty="0"/>
              <a:t>Très utile pour « aspirer » des pages</a:t>
            </a:r>
          </a:p>
          <a:p>
            <a:endParaRPr lang="fr-FR" dirty="0"/>
          </a:p>
        </p:txBody>
      </p:sp>
      <p:pic>
        <p:nvPicPr>
          <p:cNvPr id="4" name="Image 3"/>
          <p:cNvPicPr>
            <a:picLocks noChangeAspect="1"/>
          </p:cNvPicPr>
          <p:nvPr/>
        </p:nvPicPr>
        <p:blipFill>
          <a:blip r:embed="rId2"/>
          <a:stretch>
            <a:fillRect/>
          </a:stretch>
        </p:blipFill>
        <p:spPr>
          <a:xfrm>
            <a:off x="1547664" y="2780928"/>
            <a:ext cx="6340217" cy="1440160"/>
          </a:xfrm>
          <a:prstGeom prst="rect">
            <a:avLst/>
          </a:prstGeom>
        </p:spPr>
      </p:pic>
    </p:spTree>
    <p:extLst>
      <p:ext uri="{BB962C8B-B14F-4D97-AF65-F5344CB8AC3E}">
        <p14:creationId xmlns:p14="http://schemas.microsoft.com/office/powerpoint/2010/main" val="1361501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39A32D-9C5E-AF38-F898-2863BF368230}"/>
              </a:ext>
            </a:extLst>
          </p:cNvPr>
          <p:cNvSpPr>
            <a:spLocks noGrp="1"/>
          </p:cNvSpPr>
          <p:nvPr>
            <p:ph type="title"/>
          </p:nvPr>
        </p:nvSpPr>
        <p:spPr/>
        <p:txBody>
          <a:bodyPr/>
          <a:lstStyle/>
          <a:p>
            <a:r>
              <a:rPr lang="fr-FR" dirty="0"/>
              <a:t>WSGI</a:t>
            </a:r>
          </a:p>
        </p:txBody>
      </p:sp>
      <p:sp>
        <p:nvSpPr>
          <p:cNvPr id="3" name="Espace réservé du contenu 2">
            <a:extLst>
              <a:ext uri="{FF2B5EF4-FFF2-40B4-BE49-F238E27FC236}">
                <a16:creationId xmlns:a16="http://schemas.microsoft.com/office/drawing/2014/main" id="{820BBF25-B470-3C84-A423-002F7185FE55}"/>
              </a:ext>
            </a:extLst>
          </p:cNvPr>
          <p:cNvSpPr>
            <a:spLocks noGrp="1"/>
          </p:cNvSpPr>
          <p:nvPr>
            <p:ph idx="1"/>
          </p:nvPr>
        </p:nvSpPr>
        <p:spPr/>
        <p:txBody>
          <a:bodyPr/>
          <a:lstStyle/>
          <a:p>
            <a:r>
              <a:rPr lang="fr-FR" dirty="0"/>
              <a:t>Flask n’est pas fait pour être sur le port 80 ou 443</a:t>
            </a:r>
          </a:p>
          <a:p>
            <a:r>
              <a:rPr lang="fr-FR" dirty="0"/>
              <a:t>Dans le cas ou Flask est en front il faut utiliser un serveur HTTP et un pont WSGI</a:t>
            </a:r>
          </a:p>
          <a:p>
            <a:r>
              <a:rPr lang="fr-FR" dirty="0"/>
              <a:t>NGINX</a:t>
            </a:r>
          </a:p>
          <a:p>
            <a:endParaRPr lang="fr-FR" dirty="0"/>
          </a:p>
        </p:txBody>
      </p:sp>
    </p:spTree>
    <p:extLst>
      <p:ext uri="{BB962C8B-B14F-4D97-AF65-F5344CB8AC3E}">
        <p14:creationId xmlns:p14="http://schemas.microsoft.com/office/powerpoint/2010/main" val="30192840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PF" val="4C2C57686174204973206120536572766963652D4F7269656E746564204172636869746563747572653F"/>
</p:tagLst>
</file>

<file path=ppt/tags/tag2.xml><?xml version="1.0" encoding="utf-8"?>
<p:tagLst xmlns:a="http://schemas.openxmlformats.org/drawingml/2006/main" xmlns:r="http://schemas.openxmlformats.org/officeDocument/2006/relationships" xmlns:p="http://schemas.openxmlformats.org/presentationml/2006/main">
  <p:tag name="IPF" val="522C4C6F6F736520436F75706C696E67"/>
</p:tagLst>
</file>

<file path=ppt/tags/tag3.xml><?xml version="1.0" encoding="utf-8"?>
<p:tagLst xmlns:a="http://schemas.openxmlformats.org/drawingml/2006/main" xmlns:r="http://schemas.openxmlformats.org/officeDocument/2006/relationships" xmlns:p="http://schemas.openxmlformats.org/presentationml/2006/main">
  <p:tag name="IPF" val="522C57687920496E7465726F70657261626C653F"/>
</p:tagLst>
</file>

<file path=ppt/tags/tag4.xml><?xml version="1.0" encoding="utf-8"?>
<p:tagLst xmlns:a="http://schemas.openxmlformats.org/drawingml/2006/main" xmlns:r="http://schemas.openxmlformats.org/officeDocument/2006/relationships" xmlns:p="http://schemas.openxmlformats.org/presentationml/2006/main">
  <p:tag name="IPF" val="4C2C416476616E7461676573206F6620534F41"/>
</p:tagLst>
</file>

<file path=ppt/tags/tag5.xml><?xml version="1.0" encoding="utf-8"?>
<p:tagLst xmlns:a="http://schemas.openxmlformats.org/drawingml/2006/main" xmlns:r="http://schemas.openxmlformats.org/officeDocument/2006/relationships" xmlns:p="http://schemas.openxmlformats.org/presentationml/2006/main">
  <p:tag name="IPF" val="4C2C52455354"/>
</p:tagLst>
</file>

<file path=ppt/tags/tag6.xml><?xml version="1.0" encoding="utf-8"?>
<p:tagLst xmlns:a="http://schemas.openxmlformats.org/drawingml/2006/main" xmlns:r="http://schemas.openxmlformats.org/officeDocument/2006/relationships" xmlns:p="http://schemas.openxmlformats.org/presentationml/2006/main">
  <p:tag name="IPF" val="522C4372656174696E672061204A617661536372697074204F626A656374"/>
</p:tagLst>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5875</TotalTime>
  <Words>1240</Words>
  <Application>Microsoft Office PowerPoint</Application>
  <PresentationFormat>Affichage à l'écran (4:3)</PresentationFormat>
  <Paragraphs>136</Paragraphs>
  <Slides>14</Slides>
  <Notes>6</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14</vt:i4>
      </vt:variant>
    </vt:vector>
  </HeadingPairs>
  <TitlesOfParts>
    <vt:vector size="21" baseType="lpstr">
      <vt:lpstr>Arial</vt:lpstr>
      <vt:lpstr>Courier New</vt:lpstr>
      <vt:lpstr>Monotype Sorts</vt:lpstr>
      <vt:lpstr>Times New Roman</vt:lpstr>
      <vt:lpstr>Webdings</vt:lpstr>
      <vt:lpstr>Wingdings 3</vt:lpstr>
      <vt:lpstr>cvc</vt:lpstr>
      <vt:lpstr>Présentation PowerPoint</vt:lpstr>
      <vt:lpstr>Web</vt:lpstr>
      <vt:lpstr>Architecture micro services</vt:lpstr>
      <vt:lpstr>Qu’est-ce qu’une architecture orientée services ?</vt:lpstr>
      <vt:lpstr>Couplage faible et interopérabilité</vt:lpstr>
      <vt:lpstr>Pourquoi l’interopérabilité ?</vt:lpstr>
      <vt:lpstr>Avantages de SOA</vt:lpstr>
      <vt:lpstr>REST</vt:lpstr>
      <vt:lpstr>JSON</vt:lpstr>
      <vt:lpstr>Présentation PowerPoint</vt:lpstr>
      <vt:lpstr>Features</vt:lpstr>
      <vt:lpstr>Routes</vt:lpstr>
      <vt:lpstr>HTTP</vt:lpstr>
      <vt:lpstr>WSGI</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297</cp:revision>
  <dcterms:created xsi:type="dcterms:W3CDTF">2000-04-10T19:33:12Z</dcterms:created>
  <dcterms:modified xsi:type="dcterms:W3CDTF">2025-09-23T10:04:47Z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